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BF360C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BF360C"/>
                </a:solidFill>
                <a:latin typeface="Arial"/>
              </a:rPr>
              <a:t>Độ biến động trung bình (Daily Return Std) — %/ngày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Volatility (% std/ngày)</c:v>
                </c:pt>
              </c:strCache>
            </c:strRef>
          </c:tx>
          <c:spPr>
            <a:solidFill>
              <a:srgbClr val="C2A63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AC3-4710-A929-CC2621BE10F3}"/>
              </c:ext>
            </c:extLst>
          </c:dPt>
          <c:dPt>
            <c:idx val="1"/>
            <c:invertIfNegative val="0"/>
            <c:bubble3D val="0"/>
            <c:spPr>
              <a:solidFill>
                <a:srgbClr val="E841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C3-4710-A929-CC2621BE10F3}"/>
              </c:ext>
            </c:extLst>
          </c:dPt>
          <c:dPt>
            <c:idx val="2"/>
            <c:invertIfNegative val="0"/>
            <c:bubble3D val="0"/>
            <c:spPr>
              <a:solidFill>
                <a:srgbClr val="9945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AC3-4710-A929-CC2621BE10F3}"/>
              </c:ext>
            </c:extLst>
          </c:dPt>
          <c:dPt>
            <c:idx val="3"/>
            <c:invertIfNegative val="0"/>
            <c:bubble3D val="0"/>
            <c:spPr>
              <a:solidFill>
                <a:srgbClr val="E600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AC3-4710-A929-CC2621BE10F3}"/>
              </c:ext>
            </c:extLst>
          </c:dPt>
          <c:dPt>
            <c:idx val="4"/>
            <c:invertIfNegative val="0"/>
            <c:bubble3D val="0"/>
            <c:spPr>
              <a:solidFill>
                <a:srgbClr val="0033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AC3-4710-A929-CC2621BE10F3}"/>
              </c:ext>
            </c:extLst>
          </c:dPt>
          <c:dPt>
            <c:idx val="5"/>
            <c:invertIfNegative val="0"/>
            <c:bubble3D val="0"/>
            <c:spPr>
              <a:solidFill>
                <a:srgbClr val="2A5A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AC3-4710-A929-CC2621BE10F3}"/>
              </c:ext>
            </c:extLst>
          </c:dPt>
          <c:dPt>
            <c:idx val="6"/>
            <c:invertIfNegative val="0"/>
            <c:bubble3D val="0"/>
            <c:spPr>
              <a:solidFill>
                <a:srgbClr val="00AA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AC3-4710-A929-CC2621BE10F3}"/>
              </c:ext>
            </c:extLst>
          </c:dPt>
          <c:dPt>
            <c:idx val="7"/>
            <c:invertIfNegative val="0"/>
            <c:bubble3D val="0"/>
            <c:spPr>
              <a:solidFill>
                <a:srgbClr val="627E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AC3-4710-A929-CC2621BE10F3}"/>
              </c:ext>
            </c:extLst>
          </c:dPt>
          <c:dPt>
            <c:idx val="8"/>
            <c:invertIfNegative val="0"/>
            <c:bubble3D val="0"/>
            <c:spPr>
              <a:solidFill>
                <a:srgbClr val="F3BA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AC3-4710-A929-CC2621BE10F3}"/>
              </c:ext>
            </c:extLst>
          </c:dPt>
          <c:dPt>
            <c:idx val="9"/>
            <c:invertIfNegative val="0"/>
            <c:bubble3D val="0"/>
            <c:spPr>
              <a:solidFill>
                <a:srgbClr val="F793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AC3-4710-A929-CC2621BE10F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747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DOGE</c:v>
                </c:pt>
                <c:pt idx="1">
                  <c:v>AVAX</c:v>
                </c:pt>
                <c:pt idx="2">
                  <c:v>SOL</c:v>
                </c:pt>
                <c:pt idx="3">
                  <c:v>DOT</c:v>
                </c:pt>
                <c:pt idx="4">
                  <c:v>ADA</c:v>
                </c:pt>
                <c:pt idx="5">
                  <c:v>LINK</c:v>
                </c:pt>
                <c:pt idx="6">
                  <c:v>XRP</c:v>
                </c:pt>
                <c:pt idx="7">
                  <c:v>ETH</c:v>
                </c:pt>
                <c:pt idx="8">
                  <c:v>BNB</c:v>
                </c:pt>
                <c:pt idx="9">
                  <c:v>BTC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6.8</c:v>
                </c:pt>
                <c:pt idx="1">
                  <c:v>6.3</c:v>
                </c:pt>
                <c:pt idx="2">
                  <c:v>5.9</c:v>
                </c:pt>
                <c:pt idx="3">
                  <c:v>5.5</c:v>
                </c:pt>
                <c:pt idx="4">
                  <c:v>5.0999999999999996</c:v>
                </c:pt>
                <c:pt idx="5">
                  <c:v>4.9000000000000004</c:v>
                </c:pt>
                <c:pt idx="6">
                  <c:v>4.5999999999999996</c:v>
                </c:pt>
                <c:pt idx="7">
                  <c:v>4.2</c:v>
                </c:pt>
                <c:pt idx="8">
                  <c:v>3.8</c:v>
                </c:pt>
                <c:pt idx="9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AC3-4710-A929-CC2621BE10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BE9E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880E4F"/>
                </a:solidFill>
                <a:latin typeface="Arial"/>
              </a:defRPr>
            </a:pPr>
            <a:r>
              <a:rPr lang="vi-VN" sz="900" b="0" i="0" u="none" strike="noStrike">
                <a:solidFill>
                  <a:srgbClr val="880E4F"/>
                </a:solidFill>
                <a:latin typeface="Arial"/>
              </a:rPr>
              <a:t>% Khoảng cách so với ATH (cuối 2024) — thấp hơn = phục hồi tốt hơn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Chênh lệch so với ATH</c:v>
                </c:pt>
              </c:strCache>
            </c:strRef>
          </c:tx>
          <c:spPr>
            <a:solidFill>
              <a:srgbClr val="E6007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518-4370-9F91-9B2CBA63F655}"/>
              </c:ext>
            </c:extLst>
          </c:dPt>
          <c:dPt>
            <c:idx val="1"/>
            <c:invertIfNegative val="0"/>
            <c:bubble3D val="0"/>
            <c:spPr>
              <a:solidFill>
                <a:srgbClr val="E841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518-4370-9F91-9B2CBA63F655}"/>
              </c:ext>
            </c:extLst>
          </c:dPt>
          <c:dPt>
            <c:idx val="2"/>
            <c:invertIfNegative val="0"/>
            <c:bubble3D val="0"/>
            <c:spPr>
              <a:solidFill>
                <a:srgbClr val="0033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518-4370-9F91-9B2CBA63F655}"/>
              </c:ext>
            </c:extLst>
          </c:dPt>
          <c:dPt>
            <c:idx val="3"/>
            <c:invertIfNegative val="0"/>
            <c:bubble3D val="0"/>
            <c:spPr>
              <a:solidFill>
                <a:srgbClr val="00AA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518-4370-9F91-9B2CBA63F655}"/>
              </c:ext>
            </c:extLst>
          </c:dPt>
          <c:dPt>
            <c:idx val="4"/>
            <c:invertIfNegative val="0"/>
            <c:bubble3D val="0"/>
            <c:spPr>
              <a:solidFill>
                <a:srgbClr val="2A5A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518-4370-9F91-9B2CBA63F655}"/>
              </c:ext>
            </c:extLst>
          </c:dPt>
          <c:dPt>
            <c:idx val="5"/>
            <c:invertIfNegative val="0"/>
            <c:bubble3D val="0"/>
            <c:spPr>
              <a:solidFill>
                <a:srgbClr val="C2A63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518-4370-9F91-9B2CBA63F655}"/>
              </c:ext>
            </c:extLst>
          </c:dPt>
          <c:dPt>
            <c:idx val="6"/>
            <c:invertIfNegative val="0"/>
            <c:bubble3D val="0"/>
            <c:spPr>
              <a:solidFill>
                <a:srgbClr val="9945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518-4370-9F91-9B2CBA63F655}"/>
              </c:ext>
            </c:extLst>
          </c:dPt>
          <c:dPt>
            <c:idx val="7"/>
            <c:invertIfNegative val="0"/>
            <c:bubble3D val="0"/>
            <c:spPr>
              <a:solidFill>
                <a:srgbClr val="627E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518-4370-9F91-9B2CBA63F655}"/>
              </c:ext>
            </c:extLst>
          </c:dPt>
          <c:dPt>
            <c:idx val="8"/>
            <c:invertIfNegative val="0"/>
            <c:bubble3D val="0"/>
            <c:spPr>
              <a:solidFill>
                <a:srgbClr val="F3BA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518-4370-9F91-9B2CBA63F655}"/>
              </c:ext>
            </c:extLst>
          </c:dPt>
          <c:dPt>
            <c:idx val="9"/>
            <c:invertIfNegative val="0"/>
            <c:bubble3D val="0"/>
            <c:spPr>
              <a:solidFill>
                <a:srgbClr val="F793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518-4370-9F91-9B2CBA63F65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747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DOT</c:v>
                </c:pt>
                <c:pt idx="1">
                  <c:v>AVAX</c:v>
                </c:pt>
                <c:pt idx="2">
                  <c:v>ADA</c:v>
                </c:pt>
                <c:pt idx="3">
                  <c:v>XRP</c:v>
                </c:pt>
                <c:pt idx="4">
                  <c:v>LINK</c:v>
                </c:pt>
                <c:pt idx="5">
                  <c:v>DOGE</c:v>
                </c:pt>
                <c:pt idx="6">
                  <c:v>SOL</c:v>
                </c:pt>
                <c:pt idx="7">
                  <c:v>ETH</c:v>
                </c:pt>
                <c:pt idx="8">
                  <c:v>BNB</c:v>
                </c:pt>
                <c:pt idx="9">
                  <c:v>BTC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87.9</c:v>
                </c:pt>
                <c:pt idx="1">
                  <c:v>75.7</c:v>
                </c:pt>
                <c:pt idx="2">
                  <c:v>72.7</c:v>
                </c:pt>
                <c:pt idx="3">
                  <c:v>59.4</c:v>
                </c:pt>
                <c:pt idx="4">
                  <c:v>53.2</c:v>
                </c:pt>
                <c:pt idx="5">
                  <c:v>51.6</c:v>
                </c:pt>
                <c:pt idx="6">
                  <c:v>38.799999999999997</c:v>
                </c:pt>
                <c:pt idx="7">
                  <c:v>34.1</c:v>
                </c:pt>
                <c:pt idx="8">
                  <c:v>13.6</c:v>
                </c:pt>
                <c:pt idx="9">
                  <c:v>11.5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518-4370-9F91-9B2CBA63F6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CE4E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839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D762EB3-A8EB-99E8-02DE-FC30FE3B5870}"/>
              </a:ext>
            </a:extLst>
          </p:cNvPr>
          <p:cNvSpPr/>
          <p:nvPr/>
        </p:nvSpPr>
        <p:spPr>
          <a:xfrm>
            <a:off x="0" y="-2"/>
            <a:ext cx="9235440" cy="514350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-27432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182880"/>
            <a:ext cx="1280160" cy="1280160"/>
          </a:xfrm>
          <a:prstGeom prst="ellipse">
            <a:avLst/>
          </a:prstGeom>
          <a:solidFill>
            <a:srgbClr val="00BCD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347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0BCD4"/>
                </a:solidFill>
              </a:rPr>
              <a:t>TRƯỜNG ĐẠI HỌC THỦ DẦU MỘT  |  VIỆN CÔNG NGHỆ SỐ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Phân tích xu hướng và biến động giá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CD4"/>
                </a:solidFill>
              </a:rPr>
              <a:t>Top 10 Đồng Tiền Điện Tử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02996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EC5"/>
                </a:solidFill>
              </a:rPr>
              <a:t>Binance  •  Giai đoạn 2020 – 2024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50592"/>
            <a:ext cx="5029200" cy="27432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5786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F7931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57860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BTC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97864" y="25786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627EE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97864" y="257860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ETH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75688" y="25786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F3BA2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75688" y="257860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BNB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53512" y="25786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9945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53512" y="257860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SOL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31336" y="25786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00AAE4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31336" y="257860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XRP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5786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0033A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57860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ADA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86984" y="25786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C2A633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86984" y="257860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DOGE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64808" y="25786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E6007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64808" y="257860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DOT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42632" y="25786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E84142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42632" y="257860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AVAX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20456" y="257860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2A5AD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0456" y="257860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LINK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035808"/>
            <a:ext cx="5303520" cy="150876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108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</a:rPr>
              <a:t>Sinh viên thực hiện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4015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C"/>
                </a:solidFill>
              </a:rPr>
              <a:t>1.  Nguyễn Duy Khánh  –  2324802010251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7307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C"/>
                </a:solidFill>
              </a:rPr>
              <a:t>2.  Ôn Hoàng Khải  –  2324802010246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0599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C"/>
                </a:solidFill>
              </a:rPr>
              <a:t>3.  Nguyễn Quốc Chuyên  –  2324802010174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3108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Lớp:</a:t>
            </a:r>
            <a:r>
              <a:rPr lang="en-US" sz="1100" b="1" dirty="0">
                <a:solidFill>
                  <a:srgbClr val="FFFFFF"/>
                </a:solidFill>
              </a:rPr>
              <a:t>  D23CNTT02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60720" y="34564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Khoá:</a:t>
            </a:r>
            <a:r>
              <a:rPr lang="en-US" sz="1100" b="1" dirty="0">
                <a:solidFill>
                  <a:srgbClr val="FFFFFF"/>
                </a:solidFill>
              </a:rPr>
              <a:t>  2023 – 2028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60720" y="38039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GVHD:</a:t>
            </a:r>
            <a:r>
              <a:rPr lang="en-US" sz="1000" b="1" dirty="0">
                <a:solidFill>
                  <a:srgbClr val="FFFFFF"/>
                </a:solidFill>
              </a:rPr>
              <a:t>  ThS. Nguyễn Cao Hoài Phương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0" y="415137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Môn:</a:t>
            </a:r>
            <a:r>
              <a:rPr lang="en-US" sz="950" dirty="0">
                <a:solidFill>
                  <a:srgbClr val="CFD8DC"/>
                </a:solidFill>
              </a:rPr>
              <a:t>  Kỹ Thuật Lập Trình Trong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  Phân Tích Dữ Liệu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TP. Hồ Chí Minh, tháng 5/2026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463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</a:rPr>
              <a:t>NỘI DUNG TRÌNH BÀY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97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4864" cy="8046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91440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9875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Tổng Quan Đề Tài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3350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Giới thiệu, mục tiêu, phạm vi nghiên cứu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297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54864" cy="804672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8745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CD4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194767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Thu Thập &amp; Tiền Xử Lý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22951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Binance API, OHLCV, missing values, cleaning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297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54864" cy="804672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83464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1FA2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" y="29077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Phân Tích Xu Hướng Giá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3255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Line chart, giá chuẩn hóa log-scale, return theo năm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794760"/>
            <a:ext cx="4297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794760"/>
            <a:ext cx="54864" cy="80467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379476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5100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38679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Phân Tích Biến Động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42153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Daily return, volatility, rolling std 30 ngày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914400"/>
            <a:ext cx="4297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914400"/>
            <a:ext cx="54864" cy="80467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56048" y="91440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13248" y="9875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Tương Quan &amp; Volume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13248" y="13350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Heatmap Pearson, scatter BTC vs altcoin, Spearman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1874520"/>
            <a:ext cx="4297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1874520"/>
            <a:ext cx="54864" cy="804672"/>
          </a:xfrm>
          <a:prstGeom prst="rect">
            <a:avLst/>
          </a:prstGeom>
          <a:solidFill>
            <a:srgbClr val="880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56048" y="18745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80E4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13248" y="194767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Phân Tích OHLC &amp; ATH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3248" y="22951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Candlestick, biên độ H-L, khoảng cách so ATH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834640"/>
            <a:ext cx="42976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2834640"/>
            <a:ext cx="54864" cy="80467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56048" y="283464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13248" y="29077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Kết Luận &amp; Hướng Phát Triển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13248" y="3255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Insight chính, hạn chế, đề xuất tiếp theo</a:t>
            </a:r>
            <a:endParaRPr lang="en-US" sz="9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 |  TỔNG QUAN ĐỀ TÀI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Bối cảnh nghiên cứu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Thị trường tiền điện tử phát triển mạnh mẽ trong những năm gần đây.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Bitcoin, Ethereum, Solana đóng vai trò quan trọng trong hệ sinh thái Blockchain và DeFi.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Giá crypto biến động rất lớn, bị ảnh hưởng bởi tâm lý nhà đầu tư, tin tức và dòng tiền toàn cầu.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07792"/>
            <a:ext cx="128016" cy="128016"/>
          </a:xfrm>
          <a:prstGeom prst="ellipse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Phân tích dữ liệu lịch sử giúp quan sát, đánh giá và hiểu rõ hành vi thị trường.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94960" y="804672"/>
            <a:ext cx="3474720" cy="4114800"/>
          </a:xfrm>
          <a:prstGeom prst="rect">
            <a:avLst/>
          </a:prstGeom>
          <a:solidFill>
            <a:srgbClr val="EEF2F7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77840" y="9144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Mục tiêu đề tài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1298448"/>
            <a:ext cx="182880" cy="182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33872" y="12618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</a:rPr>
              <a:t>Thu thập dữ liệu lịch sử Top 10 coin từ Binance API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1792224"/>
            <a:ext cx="182880" cy="182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33872" y="17556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</a:rPr>
              <a:t>Làm sạch &amp; chuẩn hóa dữ liệu (OHLCV)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2286000"/>
            <a:ext cx="182880" cy="182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33872" y="22494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</a:rPr>
              <a:t>Trực quan hóa xu hướng giá &amp; khối lượng giao dịch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77840" y="2779776"/>
            <a:ext cx="182880" cy="182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33872" y="2743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</a:rPr>
              <a:t>Phân tích tương quan giữa các đồng coin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3273552"/>
            <a:ext cx="182880" cy="182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33872" y="32369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</a:rPr>
              <a:t>Xác định coin tăng trưởng &amp; biến động mạnh nhất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3767328"/>
            <a:ext cx="182880" cy="182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33872" y="37307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</a:rPr>
              <a:t>Ứng dụng Python trong bài toán tài chính thực tế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553712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2880" y="462686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FD8DC"/>
                </a:solidFill>
              </a:rPr>
              <a:t>📅 Giai đoạn: 01/01/2020 – 31/12/2024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423160" y="462686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FD8DC"/>
                </a:solidFill>
              </a:rPr>
              <a:t>🏦 Nguồn: Binance Public API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63440" y="462686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FD8DC"/>
                </a:solidFill>
              </a:rPr>
              <a:t>🔟 10 đồng coin vốn hóa lớn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03720" y="462686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FD8DC"/>
                </a:solidFill>
              </a:rPr>
              <a:t>🐍 Python: Pandas, NumPy, Matplotlib, Seaborn, Plotly</a:t>
            </a:r>
            <a:endParaRPr lang="en-US" sz="850"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DANH SÁCH 10 ĐỒNG COIN PHÂN TÍCH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877824"/>
            <a:ext cx="8778240" cy="3200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#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9144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Symbol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" y="9144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Tên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84832" y="9144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Lĩnh vực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46120" y="9144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Lý do chọn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43800" y="9144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Dữ liệu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1225296"/>
            <a:ext cx="87782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2880" y="1225296"/>
            <a:ext cx="54864" cy="347472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7744" y="1225296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280160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F7931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128016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BTC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78992" y="1225296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Bitcoin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84832" y="122529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Store of Value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46120" y="1225296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Benchmark thị trường, vốn hóa lớn nhất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543800" y="12252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✅ Đủ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1600200"/>
            <a:ext cx="8778240" cy="347472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" y="1600200"/>
            <a:ext cx="54864" cy="347472"/>
          </a:xfrm>
          <a:prstGeom prst="rect">
            <a:avLst/>
          </a:prstGeom>
          <a:solidFill>
            <a:srgbClr val="627E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7744" y="1600200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1655064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627EE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165506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ETH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78992" y="160020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Ethereum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84832" y="16002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Smart Contract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46120" y="160020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Nền tảng DApp lớn nhất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543800" y="1600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✅ Đủ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1975104"/>
            <a:ext cx="87782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2880" y="1975104"/>
            <a:ext cx="54864" cy="347472"/>
          </a:xfrm>
          <a:prstGeom prst="rect">
            <a:avLst/>
          </a:prstGeom>
          <a:solidFill>
            <a:srgbClr val="F3BA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37744" y="1975104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2029968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F3BA2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202996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BNB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78992" y="1975104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BNB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084832" y="197510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Exchange Coin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46120" y="1975104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Coin sàn Binance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543800" y="19751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✅ Đủ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2880" y="2350008"/>
            <a:ext cx="8778240" cy="347472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82880" y="2350008"/>
            <a:ext cx="54864" cy="347472"/>
          </a:xfrm>
          <a:prstGeom prst="rect">
            <a:avLst/>
          </a:prstGeom>
          <a:solidFill>
            <a:srgbClr val="00A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37744" y="2350008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2404872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00AAE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240487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XRP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078992" y="2350008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XRP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084832" y="235000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Payment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46120" y="235000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Thanh toán xuyên biên giới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43800" y="23500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✅ Đủ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82880" y="2724912"/>
            <a:ext cx="87782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82880" y="2724912"/>
            <a:ext cx="54864" cy="347472"/>
          </a:xfrm>
          <a:prstGeom prst="rect">
            <a:avLst/>
          </a:prstGeom>
          <a:solidFill>
            <a:srgbClr val="0033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37744" y="2724912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" y="2779776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0033A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8640" y="277977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ADA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078992" y="272491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Cardano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084832" y="272491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Blockchain L1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46120" y="272491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Blockchain thế hệ 3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43800" y="27249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✅ Đủ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" y="3099816"/>
            <a:ext cx="8778240" cy="347472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82880" y="3099816"/>
            <a:ext cx="54864" cy="347472"/>
          </a:xfrm>
          <a:prstGeom prst="rect">
            <a:avLst/>
          </a:prstGeom>
          <a:solidFill>
            <a:srgbClr val="C2A6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37744" y="3099816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8640" y="3154680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C2A633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48640" y="315468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DOGE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078992" y="3099816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Dogecoin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084832" y="309981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Meme Coin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246120" y="3099816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Meme coin nổi tiếng nhất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543800" y="30998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✅ Đủ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82880" y="3474720"/>
            <a:ext cx="87782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82880" y="3474720"/>
            <a:ext cx="54864" cy="347472"/>
          </a:xfrm>
          <a:prstGeom prst="rect">
            <a:avLst/>
          </a:prstGeom>
          <a:solidFill>
            <a:srgbClr val="994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37744" y="3474720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7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48640" y="3529584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9945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48640" y="352958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SOL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078992" y="347472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Solana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2084832" y="347472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Blockchain L1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246120" y="347472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Hiệu năng cao, phí thấp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543800" y="3474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5100"/>
                </a:solidFill>
              </a:rPr>
              <a:t>⚠️ ~212 ngày thiếu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82880" y="3877056"/>
            <a:ext cx="8778240" cy="347472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82880" y="3849624"/>
            <a:ext cx="54864" cy="347472"/>
          </a:xfrm>
          <a:prstGeom prst="rect">
            <a:avLst/>
          </a:prstGeom>
          <a:solidFill>
            <a:srgbClr val="E60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37744" y="3849624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8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48640" y="3904488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E6007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48640" y="390448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DOT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1078992" y="3849624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Polkadot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2084832" y="384962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Cross-chain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3246120" y="3849624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Kết nối nhiều blockchain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543800" y="38496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5100"/>
                </a:solidFill>
              </a:rPr>
              <a:t>⚠️ ~220 ngày thiếu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82880" y="4224528"/>
            <a:ext cx="87782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82880" y="4224528"/>
            <a:ext cx="54864" cy="347472"/>
          </a:xfrm>
          <a:prstGeom prst="rect">
            <a:avLst/>
          </a:prstGeom>
          <a:solidFill>
            <a:srgbClr val="E84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237744" y="4224528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9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48640" y="4279392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E8414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48640" y="427939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AVAX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1078992" y="4224528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Avalanche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2084832" y="422452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DeFi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3246120" y="422452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Hệ sinh thái DeFi tốc độ cao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543800" y="42245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5100"/>
                </a:solidFill>
              </a:rPr>
              <a:t>⚠️ ~262 ngày thiếu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82880" y="4599432"/>
            <a:ext cx="8778240" cy="347472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82880" y="4599432"/>
            <a:ext cx="54864" cy="347472"/>
          </a:xfrm>
          <a:prstGeom prst="rect">
            <a:avLst/>
          </a:prstGeom>
          <a:solidFill>
            <a:srgbClr val="2A5A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237744" y="4599432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10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48640" y="4654296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2A5AD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48640" y="465429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LINK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1078992" y="459943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Chainlink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2084832" y="459943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Oracle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3246120" y="459943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Oracle dữ liệu on-chain lớn nhất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7543800" y="4599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✅ Đủ</a:t>
            </a:r>
            <a:endParaRPr lang="en-US" sz="800" dirty="0"/>
          </a:p>
        </p:txBody>
      </p:sp>
      <p:pic>
        <p:nvPicPr>
          <p:cNvPr id="102" name="Picture 101" descr="Dogecoin Price Tests 0.10 Resistance as DOGE Whales Add 330M - The Coin  Republic">
            <a:extLst>
              <a:ext uri="{FF2B5EF4-FFF2-40B4-BE49-F238E27FC236}">
                <a16:creationId xmlns:a16="http://schemas.microsoft.com/office/drawing/2014/main" id="{0C9BB5D9-FB5C-75A4-7C2E-6E0F2C209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1951189"/>
            <a:ext cx="2857500" cy="16002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69F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|  THU THẬP &amp; TIỀN XỬ LÝ DỮ LIỆU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8778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</a:rPr>
              <a:t>Quy trình thu thập dữ liệu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47472" cy="347472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1581912"/>
            <a:ext cx="36576" cy="347472"/>
          </a:xfrm>
          <a:prstGeom prst="rect">
            <a:avLst/>
          </a:prstGeom>
          <a:solidFill>
            <a:srgbClr val="A5D6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2527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</a:rPr>
              <a:t>Khởi tạo Binance Client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14538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python-binance, public API (không cần key)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29384"/>
            <a:ext cx="347472" cy="347472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929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" y="2276856"/>
            <a:ext cx="36576" cy="347472"/>
          </a:xfrm>
          <a:prstGeom prst="rect">
            <a:avLst/>
          </a:prstGeom>
          <a:solidFill>
            <a:srgbClr val="A5D6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19476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</a:rPr>
              <a:t>Gọi get_historical_klines()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148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Khung 1D, từ 01/01/2020 đến 31/12/2024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624328"/>
            <a:ext cx="347472" cy="347472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624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" y="2971800"/>
            <a:ext cx="36576" cy="347472"/>
          </a:xfrm>
          <a:prstGeom prst="rect">
            <a:avLst/>
          </a:prstGeom>
          <a:solidFill>
            <a:srgbClr val="A5D6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264261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</a:rPr>
              <a:t>Chuyển đổi timestamp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9808" y="28437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Millisecond → datetime, ép kiểu float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319272"/>
            <a:ext cx="347472" cy="347472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319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" y="3666744"/>
            <a:ext cx="36576" cy="347472"/>
          </a:xfrm>
          <a:prstGeom prst="rect">
            <a:avLst/>
          </a:prstGeom>
          <a:solidFill>
            <a:srgbClr val="A5D6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" y="33375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</a:rPr>
              <a:t>Kiểm tra missing values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" y="35387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SOL/DOT/AVAX niêm yết muộn → forward-fill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014216"/>
            <a:ext cx="347472" cy="347472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0142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40325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</a:rPr>
              <a:t>Lưu dữ liệu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9808" y="42336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</a:rPr>
              <a:t>DataFrame riêng cho từng coin (10 files CSV)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822960"/>
            <a:ext cx="4297680" cy="4206240"/>
          </a:xfrm>
          <a:prstGeom prst="rect">
            <a:avLst/>
          </a:prstGeom>
          <a:solidFill>
            <a:srgbClr val="F1F8E9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</a:rPr>
              <a:t>Data Dictionary – OHLCV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1261872"/>
            <a:ext cx="429768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26864" y="128016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Trường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49240" y="128016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Ý nghĩa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565392" y="1280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Vai trò phân tích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0" y="1554480"/>
            <a:ext cx="42976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0" y="1554480"/>
            <a:ext cx="54864" cy="402336"/>
          </a:xfrm>
          <a:prstGeom prst="rect">
            <a:avLst/>
          </a:prstGeom>
          <a:solidFill>
            <a:srgbClr val="69F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63440" y="1609344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58384" y="160934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Ngày giao dịch (1D)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83680" y="1609344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</a:rPr>
              <a:t>Mốc thời gian lọc 2020-2024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0" y="1993392"/>
            <a:ext cx="4297680" cy="402336"/>
          </a:xfrm>
          <a:prstGeom prst="rect">
            <a:avLst/>
          </a:prstGeom>
          <a:solidFill>
            <a:srgbClr val="F9FB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0" y="1993392"/>
            <a:ext cx="54864" cy="402336"/>
          </a:xfrm>
          <a:prstGeom prst="rect">
            <a:avLst/>
          </a:prstGeom>
          <a:solidFill>
            <a:srgbClr val="69F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63440" y="2048256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358384" y="204825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Giá mở cửa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583680" y="2048256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</a:rPr>
              <a:t>Phân tích OHLC / candlestick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0" y="2432304"/>
            <a:ext cx="42976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572000" y="2432304"/>
            <a:ext cx="54864" cy="402336"/>
          </a:xfrm>
          <a:prstGeom prst="rect">
            <a:avLst/>
          </a:prstGeom>
          <a:solidFill>
            <a:srgbClr val="69F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663440" y="2487168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358384" y="248716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Giá cao nhất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583680" y="2487168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</a:rPr>
              <a:t>Tính ATH, biên độ dao động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0" y="2871216"/>
            <a:ext cx="4297680" cy="402336"/>
          </a:xfrm>
          <a:prstGeom prst="rect">
            <a:avLst/>
          </a:prstGeom>
          <a:solidFill>
            <a:srgbClr val="F9FB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0" y="2871216"/>
            <a:ext cx="54864" cy="402336"/>
          </a:xfrm>
          <a:prstGeom prst="rect">
            <a:avLst/>
          </a:prstGeom>
          <a:solidFill>
            <a:srgbClr val="69F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663440" y="2926080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358384" y="292608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Giá thấp nhất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83680" y="29260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</a:rPr>
              <a:t>Tính biên độ High-Low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0" y="3310128"/>
            <a:ext cx="42976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572000" y="3310128"/>
            <a:ext cx="54864" cy="402336"/>
          </a:xfrm>
          <a:prstGeom prst="rect">
            <a:avLst/>
          </a:prstGeom>
          <a:solidFill>
            <a:srgbClr val="69F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663440" y="3364992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358384" y="336499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Giá đóng cửa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583680" y="3364992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</a:rPr>
              <a:t>Return, xu hướng, tương quan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72000" y="3749040"/>
            <a:ext cx="4297680" cy="402336"/>
          </a:xfrm>
          <a:prstGeom prst="rect">
            <a:avLst/>
          </a:prstGeom>
          <a:solidFill>
            <a:srgbClr val="F9FB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572000" y="3749040"/>
            <a:ext cx="54864" cy="402336"/>
          </a:xfrm>
          <a:prstGeom prst="rect">
            <a:avLst/>
          </a:prstGeom>
          <a:solidFill>
            <a:srgbClr val="69F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663440" y="3803904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358384" y="380390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Khối lượng giao dịch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583680" y="3803904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</a:rPr>
              <a:t>Đánh giá thanh khoản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0" y="4187952"/>
            <a:ext cx="42976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572000" y="4187952"/>
            <a:ext cx="54864" cy="402336"/>
          </a:xfrm>
          <a:prstGeom prst="rect">
            <a:avLst/>
          </a:prstGeom>
          <a:solidFill>
            <a:srgbClr val="69F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663440" y="4242816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358384" y="42428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Số lượng giao dịch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583680" y="4242816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</a:rPr>
              <a:t>Mức độ hoạt động thị trường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E9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|  PHÂN TÍCH XU HƯỚNG GIÁ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5029200" cy="2926080"/>
          </a:xfrm>
          <a:prstGeom prst="rect">
            <a:avLst/>
          </a:prstGeom>
          <a:solidFill>
            <a:srgbClr val="F3E5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326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48C"/>
                </a:solidFill>
              </a:rPr>
              <a:t>📈 Biểu đồ giá chuẩn hóa (log scale)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43584"/>
            <a:ext cx="4846320" cy="237744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243584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74320" y="1335024"/>
            <a:ext cx="4846320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922853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07D8B"/>
                </a:solidFill>
              </a:rPr>
              <a:t>100x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74320" y="2014293"/>
            <a:ext cx="4846320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2602121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07D8B"/>
                </a:solidFill>
              </a:rPr>
              <a:t>10x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74320" y="2693561"/>
            <a:ext cx="4846320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" y="328139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07D8B"/>
                </a:solidFill>
              </a:rPr>
              <a:t>1x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74320" y="3372830"/>
            <a:ext cx="4846320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163824"/>
            <a:ext cx="475488" cy="274320"/>
          </a:xfrm>
          <a:prstGeom prst="rect">
            <a:avLst/>
          </a:prstGeom>
          <a:solidFill>
            <a:srgbClr val="C2A63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9808" y="1792224"/>
            <a:ext cx="475488" cy="1371600"/>
          </a:xfrm>
          <a:prstGeom prst="rect">
            <a:avLst/>
          </a:prstGeom>
          <a:solidFill>
            <a:srgbClr val="C2A63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25296" y="1792224"/>
            <a:ext cx="475488" cy="1005840"/>
          </a:xfrm>
          <a:prstGeom prst="rect">
            <a:avLst/>
          </a:prstGeom>
          <a:solidFill>
            <a:srgbClr val="C2A63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00784" y="2798064"/>
            <a:ext cx="475488" cy="182880"/>
          </a:xfrm>
          <a:prstGeom prst="rect">
            <a:avLst/>
          </a:prstGeom>
          <a:solidFill>
            <a:srgbClr val="C2A63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176272" y="2980944"/>
            <a:ext cx="475488" cy="91440"/>
          </a:xfrm>
          <a:prstGeom prst="rect">
            <a:avLst/>
          </a:prstGeom>
          <a:solidFill>
            <a:srgbClr val="C2A63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913632"/>
            <a:ext cx="164592" cy="91440"/>
          </a:xfrm>
          <a:prstGeom prst="rect">
            <a:avLst/>
          </a:prstGeom>
          <a:solidFill>
            <a:srgbClr val="F793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8587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</a:rPr>
              <a:t>BTC – ổn định, tăng dài hạn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3913632"/>
            <a:ext cx="164592" cy="91440"/>
          </a:xfrm>
          <a:prstGeom prst="rect">
            <a:avLst/>
          </a:prstGeom>
          <a:solidFill>
            <a:srgbClr val="994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40233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</a:rPr>
              <a:t>SOL – tăng mạnh 2021, 2024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913632"/>
            <a:ext cx="164592" cy="91440"/>
          </a:xfrm>
          <a:prstGeom prst="rect">
            <a:avLst/>
          </a:prstGeom>
          <a:solidFill>
            <a:srgbClr val="C2A6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418795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</a:rPr>
              <a:t>DOGE – biến động cực mạnh 2021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0" y="8778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48C"/>
                </a:solidFill>
              </a:rPr>
              <a:t>Kết quả phân tích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03520" y="1234440"/>
            <a:ext cx="3566160" cy="530352"/>
          </a:xfrm>
          <a:prstGeom prst="rect">
            <a:avLst/>
          </a:prstGeom>
          <a:solidFill>
            <a:srgbClr val="F3E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49824" y="1289304"/>
            <a:ext cx="325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148C"/>
                </a:solidFill>
              </a:rPr>
              <a:t>📌  DOGE &amp; SOL tăng trưởng mạnh nhất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49824" y="1508760"/>
            <a:ext cx="325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Tăng hàng nghìn % so với đầu 2020 (log scale)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03520" y="1856232"/>
            <a:ext cx="3566160" cy="530352"/>
          </a:xfrm>
          <a:prstGeom prst="rect">
            <a:avLst/>
          </a:prstGeom>
          <a:solidFill>
            <a:srgbClr val="F3E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49824" y="1911096"/>
            <a:ext cx="325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148C"/>
                </a:solidFill>
              </a:rPr>
              <a:t>📌  BTC tăng trưởng ổn định nhất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49824" y="2130552"/>
            <a:ext cx="325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Ít nhiễu nhất, dẫn đầu xu hướng thị trường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303520" y="2478024"/>
            <a:ext cx="3566160" cy="530352"/>
          </a:xfrm>
          <a:prstGeom prst="rect">
            <a:avLst/>
          </a:prstGeom>
          <a:solidFill>
            <a:srgbClr val="F3E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49824" y="2532888"/>
            <a:ext cx="325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148C"/>
                </a:solidFill>
              </a:rPr>
              <a:t>📌  XRP &amp; DOT tăng trưởng thấp nhất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49824" y="2752344"/>
            <a:ext cx="325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Khoảng cách xa ATH ở cuối giai đoạn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03520" y="3099816"/>
            <a:ext cx="3566160" cy="530352"/>
          </a:xfrm>
          <a:prstGeom prst="rect">
            <a:avLst/>
          </a:prstGeom>
          <a:solidFill>
            <a:srgbClr val="EDE7F6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49824" y="3154680"/>
            <a:ext cx="325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148C"/>
                </a:solidFill>
              </a:rPr>
              <a:t>📅  Năm 2021 – Tăng trưởng mạnh nhất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49824" y="3374136"/>
            <a:ext cx="325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Hầu hết coin đạt return dương rất cao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03520" y="3721608"/>
            <a:ext cx="3566160" cy="530352"/>
          </a:xfrm>
          <a:prstGeom prst="rect">
            <a:avLst/>
          </a:prstGeom>
          <a:solidFill>
            <a:srgbClr val="EDE7F6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49824" y="3776472"/>
            <a:ext cx="325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148C"/>
                </a:solidFill>
              </a:rPr>
              <a:t>📅  Năm 2022 – Điều chỉnh sâu nhất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49824" y="3995928"/>
            <a:ext cx="325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Bear market toàn cầu, nhiều coin giảm &gt;70%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303520" y="4343400"/>
            <a:ext cx="3566160" cy="530352"/>
          </a:xfrm>
          <a:prstGeom prst="rect">
            <a:avLst/>
          </a:prstGeom>
          <a:solidFill>
            <a:srgbClr val="EDE7F6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449824" y="4398264"/>
            <a:ext cx="325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148C"/>
                </a:solidFill>
              </a:rPr>
              <a:t>📅  2023–2024 – Phục hồi, BTC dẫn đầu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49824" y="4617720"/>
            <a:ext cx="3255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</a:rPr>
              <a:t>BTC đạt &gt;100,000 USD vào tháng 12/2024</a:t>
            </a:r>
            <a:endParaRPr lang="en-US" sz="8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8CC0475-70A2-817A-D90B-46B658D8E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88720"/>
            <a:ext cx="5029200" cy="2606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F3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 |  PHÂN TÍCH BIẾN ĐỘNG (VOLATILITY)</a:t>
            </a:r>
            <a:endParaRPr lang="en-US" sz="1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804672"/>
          <a:ext cx="5120640" cy="3822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8412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60C"/>
                </a:solidFill>
              </a:rPr>
              <a:t>Phân tích chính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49240" y="1188720"/>
            <a:ext cx="3566160" cy="749808"/>
          </a:xfrm>
          <a:prstGeom prst="rect">
            <a:avLst/>
          </a:prstGeom>
          <a:solidFill>
            <a:srgbClr val="FBE9E7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349240" y="1188720"/>
            <a:ext cx="54864" cy="749808"/>
          </a:xfrm>
          <a:prstGeom prst="rect">
            <a:avLst/>
          </a:prstGeom>
          <a:solidFill>
            <a:srgbClr val="BF3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0" y="126187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</a:rPr>
              <a:t>🔴  DOGE &amp; AVAX – Biến động cao nhất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0" y="153619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</a:rPr>
              <a:t>Daily return std &gt; 6%/ngày → rủi ro giao dịch cao nhất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49240" y="2084832"/>
            <a:ext cx="3566160" cy="749808"/>
          </a:xfrm>
          <a:prstGeom prst="rect">
            <a:avLst/>
          </a:prstGeom>
          <a:solidFill>
            <a:srgbClr val="FBE9E7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349240" y="2084832"/>
            <a:ext cx="54864" cy="749808"/>
          </a:xfrm>
          <a:prstGeom prst="rect">
            <a:avLst/>
          </a:prstGeom>
          <a:solidFill>
            <a:srgbClr val="BF3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0" y="21579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</a:rPr>
              <a:t>🟡  BTC &amp; BNB – Ổn định nhất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0" y="243230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</a:rPr>
              <a:t>Std &lt; 4%/ngày → an toàn hơn tương đối trong nhóm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49240" y="2980944"/>
            <a:ext cx="3566160" cy="749808"/>
          </a:xfrm>
          <a:prstGeom prst="rect">
            <a:avLst/>
          </a:prstGeom>
          <a:solidFill>
            <a:srgbClr val="FBE9E7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349240" y="2980944"/>
            <a:ext cx="54864" cy="749808"/>
          </a:xfrm>
          <a:prstGeom prst="rect">
            <a:avLst/>
          </a:prstGeom>
          <a:solidFill>
            <a:srgbClr val="BF3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0" y="30540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</a:rPr>
              <a:t>📊  Phân phối Daily Return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0" y="332841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</a:rPr>
              <a:t>Phân phối leptokurtic – đuôi dày, cực trị xuất hiện thường xuyên hơn phân phối chuẩn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49240" y="3877056"/>
            <a:ext cx="3566160" cy="749808"/>
          </a:xfrm>
          <a:prstGeom prst="rect">
            <a:avLst/>
          </a:prstGeom>
          <a:solidFill>
            <a:srgbClr val="FBE9E7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349240" y="3877056"/>
            <a:ext cx="54864" cy="749808"/>
          </a:xfrm>
          <a:prstGeom prst="rect">
            <a:avLst/>
          </a:prstGeom>
          <a:solidFill>
            <a:srgbClr val="BF3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0" y="39502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360C"/>
                </a:solidFill>
              </a:rPr>
              <a:t>📈  Rolling Volatility 30D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0" y="422452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</a:rPr>
              <a:t>Đỉnh biến động trùng giai đoạn thị trường sụp đổ (2022) và bùng nổ (2021, Q4/2024)</a:t>
            </a:r>
            <a:endParaRPr lang="en-US" sz="900" dirty="0"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2B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  |  PHÂN TÍCH TƯƠNG QUAN &amp; VOLUME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87782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37E"/>
                </a:solidFill>
              </a:rPr>
              <a:t>Heatmap Tương Quan (Pearson – Daily Return)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6072" y="112471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74F"/>
                </a:solidFill>
              </a:rPr>
              <a:t>BTC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923544" y="112471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74F"/>
                </a:solidFill>
              </a:rPr>
              <a:t>ETH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271016" y="112471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74F"/>
                </a:solidFill>
              </a:rPr>
              <a:t>BNB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618488" y="112471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74F"/>
                </a:solidFill>
              </a:rPr>
              <a:t>XRP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965960" y="112471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74F"/>
                </a:solidFill>
              </a:rPr>
              <a:t>ADA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313432" y="112471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74F"/>
                </a:solidFill>
              </a:rPr>
              <a:t>DOGE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660904" y="112471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74F"/>
                </a:solidFill>
              </a:rPr>
              <a:t>SOL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008376" y="112471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74F"/>
                </a:solidFill>
              </a:rPr>
              <a:t>DOT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355848" y="112471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74F"/>
                </a:solidFill>
              </a:rPr>
              <a:t>AVAX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3703320" y="1124712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74F"/>
                </a:solidFill>
              </a:rPr>
              <a:t>LINK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28600" y="1353312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37474F"/>
                </a:solidFill>
              </a:rPr>
              <a:t>BTC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576072" y="1353312"/>
            <a:ext cx="329184" cy="32918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1.00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923544" y="1353312"/>
            <a:ext cx="329184" cy="32918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0.89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1271016" y="1353312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71016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0.82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1618488" y="1353312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618488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0.72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1965960" y="1353312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65960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0.75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2313432" y="1353312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313432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0.68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2660904" y="1353312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60904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0.78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3008376" y="1353312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08376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0.74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3355848" y="1353312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55848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0.77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3703320" y="1353312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703320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0.75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228600" y="1700784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37474F"/>
                </a:solidFill>
              </a:rPr>
              <a:t>ETH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76072" y="1700784"/>
            <a:ext cx="329184" cy="32918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6072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0.89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923544" y="1700784"/>
            <a:ext cx="329184" cy="32918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23544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1.00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1271016" y="1700784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71016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0.83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1618488" y="1700784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618488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0.69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1965960" y="1700784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965960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0.76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2313432" y="1700784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13432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0.65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2660904" y="1700784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660904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0.81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3008376" y="1700784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008376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0.75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3355848" y="1700784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355848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0.79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3703320" y="1700784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703320" y="1700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0.76</a:t>
            </a:r>
            <a:endParaRPr lang="en-US" sz="550" dirty="0"/>
          </a:p>
        </p:txBody>
      </p:sp>
      <p:sp>
        <p:nvSpPr>
          <p:cNvPr id="58" name="Text 56"/>
          <p:cNvSpPr/>
          <p:nvPr/>
        </p:nvSpPr>
        <p:spPr>
          <a:xfrm>
            <a:off x="228600" y="2048256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37474F"/>
                </a:solidFill>
              </a:rPr>
              <a:t>BNB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76072" y="2048256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76072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0.82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923544" y="2048256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23544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0.83</a:t>
            </a:r>
            <a:endParaRPr lang="en-US" sz="550" dirty="0"/>
          </a:p>
        </p:txBody>
      </p:sp>
      <p:sp>
        <p:nvSpPr>
          <p:cNvPr id="63" name="Shape 61"/>
          <p:cNvSpPr/>
          <p:nvPr/>
        </p:nvSpPr>
        <p:spPr>
          <a:xfrm>
            <a:off x="1271016" y="2048256"/>
            <a:ext cx="329184" cy="32918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271016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1.00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1618488" y="2048256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618488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0.66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1965960" y="2048256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965960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0.73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2313432" y="2048256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313432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0.63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660904" y="2048256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660904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0.75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3008376" y="2048256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008376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0.72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3355848" y="2048256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355848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0.74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3703320" y="2048256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703320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0.72</a:t>
            </a:r>
            <a:endParaRPr lang="en-US" sz="550" dirty="0"/>
          </a:p>
        </p:txBody>
      </p:sp>
      <p:sp>
        <p:nvSpPr>
          <p:cNvPr id="79" name="Text 77"/>
          <p:cNvSpPr/>
          <p:nvPr/>
        </p:nvSpPr>
        <p:spPr>
          <a:xfrm>
            <a:off x="228600" y="239572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37474F"/>
                </a:solidFill>
              </a:rPr>
              <a:t>XRP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576072" y="2395728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76072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0.72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923544" y="2395728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923544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0.69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1271016" y="2395728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271016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0.66</a:t>
            </a:r>
            <a:endParaRPr lang="en-US" sz="550" dirty="0"/>
          </a:p>
        </p:txBody>
      </p:sp>
      <p:sp>
        <p:nvSpPr>
          <p:cNvPr id="86" name="Shape 84"/>
          <p:cNvSpPr/>
          <p:nvPr/>
        </p:nvSpPr>
        <p:spPr>
          <a:xfrm>
            <a:off x="1618488" y="2395728"/>
            <a:ext cx="329184" cy="32918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618488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1.00</a:t>
            </a:r>
            <a:endParaRPr lang="en-US" sz="550" dirty="0"/>
          </a:p>
        </p:txBody>
      </p:sp>
      <p:sp>
        <p:nvSpPr>
          <p:cNvPr id="88" name="Shape 86"/>
          <p:cNvSpPr/>
          <p:nvPr/>
        </p:nvSpPr>
        <p:spPr>
          <a:xfrm>
            <a:off x="1965960" y="2395728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965960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0.68</a:t>
            </a:r>
            <a:endParaRPr lang="en-US" sz="550" dirty="0"/>
          </a:p>
        </p:txBody>
      </p:sp>
      <p:sp>
        <p:nvSpPr>
          <p:cNvPr id="90" name="Shape 88"/>
          <p:cNvSpPr/>
          <p:nvPr/>
        </p:nvSpPr>
        <p:spPr>
          <a:xfrm>
            <a:off x="2313432" y="2395728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313432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0.62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2660904" y="2395728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660904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0.65</a:t>
            </a:r>
            <a:endParaRPr lang="en-US" sz="550" dirty="0"/>
          </a:p>
        </p:txBody>
      </p:sp>
      <p:sp>
        <p:nvSpPr>
          <p:cNvPr id="94" name="Shape 92"/>
          <p:cNvSpPr/>
          <p:nvPr/>
        </p:nvSpPr>
        <p:spPr>
          <a:xfrm>
            <a:off x="3008376" y="2395728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008376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0.63</a:t>
            </a:r>
            <a:endParaRPr lang="en-US" sz="550" dirty="0"/>
          </a:p>
        </p:txBody>
      </p:sp>
      <p:sp>
        <p:nvSpPr>
          <p:cNvPr id="96" name="Shape 94"/>
          <p:cNvSpPr/>
          <p:nvPr/>
        </p:nvSpPr>
        <p:spPr>
          <a:xfrm>
            <a:off x="3355848" y="2395728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355848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0.66</a:t>
            </a:r>
            <a:endParaRPr lang="en-US" sz="550" dirty="0"/>
          </a:p>
        </p:txBody>
      </p:sp>
      <p:sp>
        <p:nvSpPr>
          <p:cNvPr id="98" name="Shape 96"/>
          <p:cNvSpPr/>
          <p:nvPr/>
        </p:nvSpPr>
        <p:spPr>
          <a:xfrm>
            <a:off x="3703320" y="2395728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3703320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0.63</a:t>
            </a:r>
            <a:endParaRPr lang="en-US" sz="550" dirty="0"/>
          </a:p>
        </p:txBody>
      </p:sp>
      <p:sp>
        <p:nvSpPr>
          <p:cNvPr id="100" name="Text 98"/>
          <p:cNvSpPr/>
          <p:nvPr/>
        </p:nvSpPr>
        <p:spPr>
          <a:xfrm>
            <a:off x="228600" y="2743200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37474F"/>
                </a:solidFill>
              </a:rPr>
              <a:t>ADA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576072" y="2743200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76072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0.75</a:t>
            </a:r>
            <a:endParaRPr lang="en-US" sz="550" dirty="0"/>
          </a:p>
        </p:txBody>
      </p:sp>
      <p:sp>
        <p:nvSpPr>
          <p:cNvPr id="103" name="Shape 101"/>
          <p:cNvSpPr/>
          <p:nvPr/>
        </p:nvSpPr>
        <p:spPr>
          <a:xfrm>
            <a:off x="923544" y="2743200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923544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0.76</a:t>
            </a:r>
            <a:endParaRPr lang="en-US" sz="550" dirty="0"/>
          </a:p>
        </p:txBody>
      </p:sp>
      <p:sp>
        <p:nvSpPr>
          <p:cNvPr id="105" name="Shape 103"/>
          <p:cNvSpPr/>
          <p:nvPr/>
        </p:nvSpPr>
        <p:spPr>
          <a:xfrm>
            <a:off x="1271016" y="2743200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271016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0.73</a:t>
            </a:r>
            <a:endParaRPr lang="en-US" sz="550" dirty="0"/>
          </a:p>
        </p:txBody>
      </p:sp>
      <p:sp>
        <p:nvSpPr>
          <p:cNvPr id="107" name="Shape 105"/>
          <p:cNvSpPr/>
          <p:nvPr/>
        </p:nvSpPr>
        <p:spPr>
          <a:xfrm>
            <a:off x="1618488" y="2743200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1618488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0.68</a:t>
            </a:r>
            <a:endParaRPr lang="en-US" sz="550" dirty="0"/>
          </a:p>
        </p:txBody>
      </p:sp>
      <p:sp>
        <p:nvSpPr>
          <p:cNvPr id="109" name="Shape 107"/>
          <p:cNvSpPr/>
          <p:nvPr/>
        </p:nvSpPr>
        <p:spPr>
          <a:xfrm>
            <a:off x="1965960" y="2743200"/>
            <a:ext cx="329184" cy="32918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96596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1.00</a:t>
            </a:r>
            <a:endParaRPr lang="en-US" sz="550" dirty="0"/>
          </a:p>
        </p:txBody>
      </p:sp>
      <p:sp>
        <p:nvSpPr>
          <p:cNvPr id="111" name="Shape 109"/>
          <p:cNvSpPr/>
          <p:nvPr/>
        </p:nvSpPr>
        <p:spPr>
          <a:xfrm>
            <a:off x="2313432" y="2743200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2313432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0.65</a:t>
            </a:r>
            <a:endParaRPr lang="en-US" sz="550" dirty="0"/>
          </a:p>
        </p:txBody>
      </p:sp>
      <p:sp>
        <p:nvSpPr>
          <p:cNvPr id="113" name="Shape 111"/>
          <p:cNvSpPr/>
          <p:nvPr/>
        </p:nvSpPr>
        <p:spPr>
          <a:xfrm>
            <a:off x="2660904" y="2743200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2660904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0.74</a:t>
            </a:r>
            <a:endParaRPr lang="en-US" sz="550" dirty="0"/>
          </a:p>
        </p:txBody>
      </p:sp>
      <p:sp>
        <p:nvSpPr>
          <p:cNvPr id="115" name="Shape 113"/>
          <p:cNvSpPr/>
          <p:nvPr/>
        </p:nvSpPr>
        <p:spPr>
          <a:xfrm>
            <a:off x="3008376" y="2743200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3008376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0.71</a:t>
            </a:r>
            <a:endParaRPr lang="en-US" sz="550" dirty="0"/>
          </a:p>
        </p:txBody>
      </p:sp>
      <p:sp>
        <p:nvSpPr>
          <p:cNvPr id="117" name="Shape 115"/>
          <p:cNvSpPr/>
          <p:nvPr/>
        </p:nvSpPr>
        <p:spPr>
          <a:xfrm>
            <a:off x="3355848" y="2743200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3355848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0.73</a:t>
            </a:r>
            <a:endParaRPr lang="en-US" sz="550" dirty="0"/>
          </a:p>
        </p:txBody>
      </p:sp>
      <p:sp>
        <p:nvSpPr>
          <p:cNvPr id="119" name="Shape 117"/>
          <p:cNvSpPr/>
          <p:nvPr/>
        </p:nvSpPr>
        <p:spPr>
          <a:xfrm>
            <a:off x="3703320" y="2743200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370332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0.68</a:t>
            </a:r>
            <a:endParaRPr lang="en-US" sz="550" dirty="0"/>
          </a:p>
        </p:txBody>
      </p:sp>
      <p:sp>
        <p:nvSpPr>
          <p:cNvPr id="121" name="Text 119"/>
          <p:cNvSpPr/>
          <p:nvPr/>
        </p:nvSpPr>
        <p:spPr>
          <a:xfrm>
            <a:off x="228600" y="3090672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37474F"/>
                </a:solidFill>
              </a:rPr>
              <a:t>DOGE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576072" y="3090672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576072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0.68</a:t>
            </a:r>
            <a:endParaRPr lang="en-US" sz="550" dirty="0"/>
          </a:p>
        </p:txBody>
      </p:sp>
      <p:sp>
        <p:nvSpPr>
          <p:cNvPr id="124" name="Shape 122"/>
          <p:cNvSpPr/>
          <p:nvPr/>
        </p:nvSpPr>
        <p:spPr>
          <a:xfrm>
            <a:off x="923544" y="3090672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923544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0.65</a:t>
            </a:r>
            <a:endParaRPr lang="en-US" sz="550" dirty="0"/>
          </a:p>
        </p:txBody>
      </p:sp>
      <p:sp>
        <p:nvSpPr>
          <p:cNvPr id="126" name="Shape 124"/>
          <p:cNvSpPr/>
          <p:nvPr/>
        </p:nvSpPr>
        <p:spPr>
          <a:xfrm>
            <a:off x="1271016" y="3090672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1271016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0.63</a:t>
            </a:r>
            <a:endParaRPr lang="en-US" sz="550" dirty="0"/>
          </a:p>
        </p:txBody>
      </p:sp>
      <p:sp>
        <p:nvSpPr>
          <p:cNvPr id="128" name="Shape 126"/>
          <p:cNvSpPr/>
          <p:nvPr/>
        </p:nvSpPr>
        <p:spPr>
          <a:xfrm>
            <a:off x="1618488" y="3090672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1618488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0.62</a:t>
            </a:r>
            <a:endParaRPr lang="en-US" sz="550" dirty="0"/>
          </a:p>
        </p:txBody>
      </p:sp>
      <p:sp>
        <p:nvSpPr>
          <p:cNvPr id="130" name="Shape 128"/>
          <p:cNvSpPr/>
          <p:nvPr/>
        </p:nvSpPr>
        <p:spPr>
          <a:xfrm>
            <a:off x="1965960" y="3090672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1965960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0.65</a:t>
            </a:r>
            <a:endParaRPr lang="en-US" sz="550" dirty="0"/>
          </a:p>
        </p:txBody>
      </p:sp>
      <p:sp>
        <p:nvSpPr>
          <p:cNvPr id="132" name="Shape 130"/>
          <p:cNvSpPr/>
          <p:nvPr/>
        </p:nvSpPr>
        <p:spPr>
          <a:xfrm>
            <a:off x="2313432" y="3090672"/>
            <a:ext cx="329184" cy="32918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2313432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1.00</a:t>
            </a:r>
            <a:endParaRPr lang="en-US" sz="550" dirty="0"/>
          </a:p>
        </p:txBody>
      </p:sp>
      <p:sp>
        <p:nvSpPr>
          <p:cNvPr id="134" name="Shape 132"/>
          <p:cNvSpPr/>
          <p:nvPr/>
        </p:nvSpPr>
        <p:spPr>
          <a:xfrm>
            <a:off x="2660904" y="3090672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2660904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0.64</a:t>
            </a:r>
            <a:endParaRPr lang="en-US" sz="550" dirty="0"/>
          </a:p>
        </p:txBody>
      </p:sp>
      <p:sp>
        <p:nvSpPr>
          <p:cNvPr id="136" name="Shape 134"/>
          <p:cNvSpPr/>
          <p:nvPr/>
        </p:nvSpPr>
        <p:spPr>
          <a:xfrm>
            <a:off x="3008376" y="3090672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008376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0.62</a:t>
            </a:r>
            <a:endParaRPr lang="en-US" sz="550" dirty="0"/>
          </a:p>
        </p:txBody>
      </p:sp>
      <p:sp>
        <p:nvSpPr>
          <p:cNvPr id="138" name="Shape 136"/>
          <p:cNvSpPr/>
          <p:nvPr/>
        </p:nvSpPr>
        <p:spPr>
          <a:xfrm>
            <a:off x="3355848" y="3090672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3355848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0.64</a:t>
            </a:r>
            <a:endParaRPr lang="en-US" sz="550" dirty="0"/>
          </a:p>
        </p:txBody>
      </p:sp>
      <p:sp>
        <p:nvSpPr>
          <p:cNvPr id="140" name="Shape 138"/>
          <p:cNvSpPr/>
          <p:nvPr/>
        </p:nvSpPr>
        <p:spPr>
          <a:xfrm>
            <a:off x="3703320" y="3090672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3703320" y="3090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0.61</a:t>
            </a:r>
            <a:endParaRPr lang="en-US" sz="550" dirty="0"/>
          </a:p>
        </p:txBody>
      </p:sp>
      <p:sp>
        <p:nvSpPr>
          <p:cNvPr id="142" name="Text 140"/>
          <p:cNvSpPr/>
          <p:nvPr/>
        </p:nvSpPr>
        <p:spPr>
          <a:xfrm>
            <a:off x="228600" y="3438144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37474F"/>
                </a:solidFill>
              </a:rPr>
              <a:t>SOL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576072" y="3438144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576072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0.78</a:t>
            </a:r>
            <a:endParaRPr lang="en-US" sz="550" dirty="0"/>
          </a:p>
        </p:txBody>
      </p:sp>
      <p:sp>
        <p:nvSpPr>
          <p:cNvPr id="145" name="Shape 143"/>
          <p:cNvSpPr/>
          <p:nvPr/>
        </p:nvSpPr>
        <p:spPr>
          <a:xfrm>
            <a:off x="923544" y="3438144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923544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0.81</a:t>
            </a:r>
            <a:endParaRPr lang="en-US" sz="550" dirty="0"/>
          </a:p>
        </p:txBody>
      </p:sp>
      <p:sp>
        <p:nvSpPr>
          <p:cNvPr id="147" name="Shape 145"/>
          <p:cNvSpPr/>
          <p:nvPr/>
        </p:nvSpPr>
        <p:spPr>
          <a:xfrm>
            <a:off x="1271016" y="3438144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1271016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0.75</a:t>
            </a:r>
            <a:endParaRPr lang="en-US" sz="550" dirty="0"/>
          </a:p>
        </p:txBody>
      </p:sp>
      <p:sp>
        <p:nvSpPr>
          <p:cNvPr id="149" name="Shape 147"/>
          <p:cNvSpPr/>
          <p:nvPr/>
        </p:nvSpPr>
        <p:spPr>
          <a:xfrm>
            <a:off x="1618488" y="3438144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1618488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0.65</a:t>
            </a:r>
            <a:endParaRPr lang="en-US" sz="550" dirty="0"/>
          </a:p>
        </p:txBody>
      </p:sp>
      <p:sp>
        <p:nvSpPr>
          <p:cNvPr id="151" name="Shape 149"/>
          <p:cNvSpPr/>
          <p:nvPr/>
        </p:nvSpPr>
        <p:spPr>
          <a:xfrm>
            <a:off x="1965960" y="3438144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1965960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0.74</a:t>
            </a:r>
            <a:endParaRPr lang="en-US" sz="550" dirty="0"/>
          </a:p>
        </p:txBody>
      </p:sp>
      <p:sp>
        <p:nvSpPr>
          <p:cNvPr id="153" name="Shape 151"/>
          <p:cNvSpPr/>
          <p:nvPr/>
        </p:nvSpPr>
        <p:spPr>
          <a:xfrm>
            <a:off x="2313432" y="3438144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2313432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0.64</a:t>
            </a:r>
            <a:endParaRPr lang="en-US" sz="550" dirty="0"/>
          </a:p>
        </p:txBody>
      </p:sp>
      <p:sp>
        <p:nvSpPr>
          <p:cNvPr id="155" name="Shape 153"/>
          <p:cNvSpPr/>
          <p:nvPr/>
        </p:nvSpPr>
        <p:spPr>
          <a:xfrm>
            <a:off x="2660904" y="3438144"/>
            <a:ext cx="329184" cy="32918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2660904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1.00</a:t>
            </a:r>
            <a:endParaRPr lang="en-US" sz="550" dirty="0"/>
          </a:p>
        </p:txBody>
      </p:sp>
      <p:sp>
        <p:nvSpPr>
          <p:cNvPr id="157" name="Shape 155"/>
          <p:cNvSpPr/>
          <p:nvPr/>
        </p:nvSpPr>
        <p:spPr>
          <a:xfrm>
            <a:off x="3008376" y="3438144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3008376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0.76</a:t>
            </a:r>
            <a:endParaRPr lang="en-US" sz="550" dirty="0"/>
          </a:p>
        </p:txBody>
      </p:sp>
      <p:sp>
        <p:nvSpPr>
          <p:cNvPr id="159" name="Shape 157"/>
          <p:cNvSpPr/>
          <p:nvPr/>
        </p:nvSpPr>
        <p:spPr>
          <a:xfrm>
            <a:off x="3355848" y="3438144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3355848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0.80</a:t>
            </a:r>
            <a:endParaRPr lang="en-US" sz="550" dirty="0"/>
          </a:p>
        </p:txBody>
      </p:sp>
      <p:sp>
        <p:nvSpPr>
          <p:cNvPr id="161" name="Shape 159"/>
          <p:cNvSpPr/>
          <p:nvPr/>
        </p:nvSpPr>
        <p:spPr>
          <a:xfrm>
            <a:off x="3703320" y="3438144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3703320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0.73</a:t>
            </a:r>
            <a:endParaRPr lang="en-US" sz="550" dirty="0"/>
          </a:p>
        </p:txBody>
      </p:sp>
      <p:sp>
        <p:nvSpPr>
          <p:cNvPr id="163" name="Text 161"/>
          <p:cNvSpPr/>
          <p:nvPr/>
        </p:nvSpPr>
        <p:spPr>
          <a:xfrm>
            <a:off x="228600" y="3785616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37474F"/>
                </a:solidFill>
              </a:rPr>
              <a:t>DOT</a:t>
            </a:r>
            <a:endParaRPr lang="en-US" sz="650" dirty="0"/>
          </a:p>
        </p:txBody>
      </p:sp>
      <p:sp>
        <p:nvSpPr>
          <p:cNvPr id="164" name="Shape 162"/>
          <p:cNvSpPr/>
          <p:nvPr/>
        </p:nvSpPr>
        <p:spPr>
          <a:xfrm>
            <a:off x="576072" y="3785616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Text 163"/>
          <p:cNvSpPr/>
          <p:nvPr/>
        </p:nvSpPr>
        <p:spPr>
          <a:xfrm>
            <a:off x="576072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0.74</a:t>
            </a:r>
            <a:endParaRPr lang="en-US" sz="550" dirty="0"/>
          </a:p>
        </p:txBody>
      </p:sp>
      <p:sp>
        <p:nvSpPr>
          <p:cNvPr id="166" name="Shape 164"/>
          <p:cNvSpPr/>
          <p:nvPr/>
        </p:nvSpPr>
        <p:spPr>
          <a:xfrm>
            <a:off x="923544" y="3785616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Text 165"/>
          <p:cNvSpPr/>
          <p:nvPr/>
        </p:nvSpPr>
        <p:spPr>
          <a:xfrm>
            <a:off x="923544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0.75</a:t>
            </a:r>
            <a:endParaRPr lang="en-US" sz="550" dirty="0"/>
          </a:p>
        </p:txBody>
      </p:sp>
      <p:sp>
        <p:nvSpPr>
          <p:cNvPr id="168" name="Shape 166"/>
          <p:cNvSpPr/>
          <p:nvPr/>
        </p:nvSpPr>
        <p:spPr>
          <a:xfrm>
            <a:off x="1271016" y="3785616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Text 167"/>
          <p:cNvSpPr/>
          <p:nvPr/>
        </p:nvSpPr>
        <p:spPr>
          <a:xfrm>
            <a:off x="1271016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0.72</a:t>
            </a:r>
            <a:endParaRPr lang="en-US" sz="550" dirty="0"/>
          </a:p>
        </p:txBody>
      </p:sp>
      <p:sp>
        <p:nvSpPr>
          <p:cNvPr id="170" name="Shape 168"/>
          <p:cNvSpPr/>
          <p:nvPr/>
        </p:nvSpPr>
        <p:spPr>
          <a:xfrm>
            <a:off x="1618488" y="3785616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Text 169"/>
          <p:cNvSpPr/>
          <p:nvPr/>
        </p:nvSpPr>
        <p:spPr>
          <a:xfrm>
            <a:off x="1618488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0.63</a:t>
            </a:r>
            <a:endParaRPr lang="en-US" sz="550" dirty="0"/>
          </a:p>
        </p:txBody>
      </p:sp>
      <p:sp>
        <p:nvSpPr>
          <p:cNvPr id="172" name="Shape 170"/>
          <p:cNvSpPr/>
          <p:nvPr/>
        </p:nvSpPr>
        <p:spPr>
          <a:xfrm>
            <a:off x="1965960" y="3785616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Text 171"/>
          <p:cNvSpPr/>
          <p:nvPr/>
        </p:nvSpPr>
        <p:spPr>
          <a:xfrm>
            <a:off x="1965960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0.71</a:t>
            </a:r>
            <a:endParaRPr lang="en-US" sz="550" dirty="0"/>
          </a:p>
        </p:txBody>
      </p:sp>
      <p:sp>
        <p:nvSpPr>
          <p:cNvPr id="174" name="Shape 172"/>
          <p:cNvSpPr/>
          <p:nvPr/>
        </p:nvSpPr>
        <p:spPr>
          <a:xfrm>
            <a:off x="2313432" y="3785616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Text 173"/>
          <p:cNvSpPr/>
          <p:nvPr/>
        </p:nvSpPr>
        <p:spPr>
          <a:xfrm>
            <a:off x="2313432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0.62</a:t>
            </a:r>
            <a:endParaRPr lang="en-US" sz="550" dirty="0"/>
          </a:p>
        </p:txBody>
      </p:sp>
      <p:sp>
        <p:nvSpPr>
          <p:cNvPr id="176" name="Shape 174"/>
          <p:cNvSpPr/>
          <p:nvPr/>
        </p:nvSpPr>
        <p:spPr>
          <a:xfrm>
            <a:off x="2660904" y="3785616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Text 175"/>
          <p:cNvSpPr/>
          <p:nvPr/>
        </p:nvSpPr>
        <p:spPr>
          <a:xfrm>
            <a:off x="2660904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0.76</a:t>
            </a:r>
            <a:endParaRPr lang="en-US" sz="550" dirty="0"/>
          </a:p>
        </p:txBody>
      </p:sp>
      <p:sp>
        <p:nvSpPr>
          <p:cNvPr id="178" name="Shape 176"/>
          <p:cNvSpPr/>
          <p:nvPr/>
        </p:nvSpPr>
        <p:spPr>
          <a:xfrm>
            <a:off x="3008376" y="3785616"/>
            <a:ext cx="329184" cy="32918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3008376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1.00</a:t>
            </a:r>
            <a:endParaRPr lang="en-US" sz="550" dirty="0"/>
          </a:p>
        </p:txBody>
      </p:sp>
      <p:sp>
        <p:nvSpPr>
          <p:cNvPr id="180" name="Shape 178"/>
          <p:cNvSpPr/>
          <p:nvPr/>
        </p:nvSpPr>
        <p:spPr>
          <a:xfrm>
            <a:off x="3355848" y="3785616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Text 179"/>
          <p:cNvSpPr/>
          <p:nvPr/>
        </p:nvSpPr>
        <p:spPr>
          <a:xfrm>
            <a:off x="3355848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0.78</a:t>
            </a:r>
            <a:endParaRPr lang="en-US" sz="550" dirty="0"/>
          </a:p>
        </p:txBody>
      </p:sp>
      <p:sp>
        <p:nvSpPr>
          <p:cNvPr id="182" name="Shape 180"/>
          <p:cNvSpPr/>
          <p:nvPr/>
        </p:nvSpPr>
        <p:spPr>
          <a:xfrm>
            <a:off x="3703320" y="3785616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Text 181"/>
          <p:cNvSpPr/>
          <p:nvPr/>
        </p:nvSpPr>
        <p:spPr>
          <a:xfrm>
            <a:off x="3703320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0.71</a:t>
            </a:r>
            <a:endParaRPr lang="en-US" sz="550" dirty="0"/>
          </a:p>
        </p:txBody>
      </p:sp>
      <p:sp>
        <p:nvSpPr>
          <p:cNvPr id="184" name="Text 182"/>
          <p:cNvSpPr/>
          <p:nvPr/>
        </p:nvSpPr>
        <p:spPr>
          <a:xfrm>
            <a:off x="228600" y="4133088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37474F"/>
                </a:solidFill>
              </a:rPr>
              <a:t>AVAX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576072" y="4133088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Text 184"/>
          <p:cNvSpPr/>
          <p:nvPr/>
        </p:nvSpPr>
        <p:spPr>
          <a:xfrm>
            <a:off x="576072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0.77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23544" y="4133088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" name="Text 186"/>
          <p:cNvSpPr/>
          <p:nvPr/>
        </p:nvSpPr>
        <p:spPr>
          <a:xfrm>
            <a:off x="923544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0.79</a:t>
            </a:r>
            <a:endParaRPr lang="en-US" sz="550" dirty="0"/>
          </a:p>
        </p:txBody>
      </p:sp>
      <p:sp>
        <p:nvSpPr>
          <p:cNvPr id="189" name="Shape 187"/>
          <p:cNvSpPr/>
          <p:nvPr/>
        </p:nvSpPr>
        <p:spPr>
          <a:xfrm>
            <a:off x="1271016" y="4133088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Text 188"/>
          <p:cNvSpPr/>
          <p:nvPr/>
        </p:nvSpPr>
        <p:spPr>
          <a:xfrm>
            <a:off x="1271016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0.74</a:t>
            </a:r>
            <a:endParaRPr lang="en-US" sz="550" dirty="0"/>
          </a:p>
        </p:txBody>
      </p:sp>
      <p:sp>
        <p:nvSpPr>
          <p:cNvPr id="191" name="Shape 189"/>
          <p:cNvSpPr/>
          <p:nvPr/>
        </p:nvSpPr>
        <p:spPr>
          <a:xfrm>
            <a:off x="1618488" y="4133088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Text 190"/>
          <p:cNvSpPr/>
          <p:nvPr/>
        </p:nvSpPr>
        <p:spPr>
          <a:xfrm>
            <a:off x="1618488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0.66</a:t>
            </a:r>
            <a:endParaRPr lang="en-US" sz="550" dirty="0"/>
          </a:p>
        </p:txBody>
      </p:sp>
      <p:sp>
        <p:nvSpPr>
          <p:cNvPr id="193" name="Shape 191"/>
          <p:cNvSpPr/>
          <p:nvPr/>
        </p:nvSpPr>
        <p:spPr>
          <a:xfrm>
            <a:off x="1965960" y="4133088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Text 192"/>
          <p:cNvSpPr/>
          <p:nvPr/>
        </p:nvSpPr>
        <p:spPr>
          <a:xfrm>
            <a:off x="1965960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0.73</a:t>
            </a:r>
            <a:endParaRPr lang="en-US" sz="550" dirty="0"/>
          </a:p>
        </p:txBody>
      </p:sp>
      <p:sp>
        <p:nvSpPr>
          <p:cNvPr id="195" name="Shape 193"/>
          <p:cNvSpPr/>
          <p:nvPr/>
        </p:nvSpPr>
        <p:spPr>
          <a:xfrm>
            <a:off x="2313432" y="4133088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Text 194"/>
          <p:cNvSpPr/>
          <p:nvPr/>
        </p:nvSpPr>
        <p:spPr>
          <a:xfrm>
            <a:off x="2313432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0.64</a:t>
            </a:r>
            <a:endParaRPr lang="en-US" sz="550" dirty="0"/>
          </a:p>
        </p:txBody>
      </p:sp>
      <p:sp>
        <p:nvSpPr>
          <p:cNvPr id="197" name="Shape 195"/>
          <p:cNvSpPr/>
          <p:nvPr/>
        </p:nvSpPr>
        <p:spPr>
          <a:xfrm>
            <a:off x="2660904" y="4133088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" name="Text 196"/>
          <p:cNvSpPr/>
          <p:nvPr/>
        </p:nvSpPr>
        <p:spPr>
          <a:xfrm>
            <a:off x="2660904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0.80</a:t>
            </a:r>
            <a:endParaRPr lang="en-US" sz="550" dirty="0"/>
          </a:p>
        </p:txBody>
      </p:sp>
      <p:sp>
        <p:nvSpPr>
          <p:cNvPr id="199" name="Shape 197"/>
          <p:cNvSpPr/>
          <p:nvPr/>
        </p:nvSpPr>
        <p:spPr>
          <a:xfrm>
            <a:off x="3008376" y="4133088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Text 198"/>
          <p:cNvSpPr/>
          <p:nvPr/>
        </p:nvSpPr>
        <p:spPr>
          <a:xfrm>
            <a:off x="3008376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0.78</a:t>
            </a:r>
            <a:endParaRPr lang="en-US" sz="550" dirty="0"/>
          </a:p>
        </p:txBody>
      </p:sp>
      <p:sp>
        <p:nvSpPr>
          <p:cNvPr id="201" name="Shape 199"/>
          <p:cNvSpPr/>
          <p:nvPr/>
        </p:nvSpPr>
        <p:spPr>
          <a:xfrm>
            <a:off x="3355848" y="4133088"/>
            <a:ext cx="329184" cy="32918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Text 200"/>
          <p:cNvSpPr/>
          <p:nvPr/>
        </p:nvSpPr>
        <p:spPr>
          <a:xfrm>
            <a:off x="3355848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1.00</a:t>
            </a:r>
            <a:endParaRPr lang="en-US" sz="550" dirty="0"/>
          </a:p>
        </p:txBody>
      </p:sp>
      <p:sp>
        <p:nvSpPr>
          <p:cNvPr id="203" name="Shape 201"/>
          <p:cNvSpPr/>
          <p:nvPr/>
        </p:nvSpPr>
        <p:spPr>
          <a:xfrm>
            <a:off x="3703320" y="4133088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Text 202"/>
          <p:cNvSpPr/>
          <p:nvPr/>
        </p:nvSpPr>
        <p:spPr>
          <a:xfrm>
            <a:off x="3703320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0.73</a:t>
            </a:r>
            <a:endParaRPr lang="en-US" sz="550" dirty="0"/>
          </a:p>
        </p:txBody>
      </p:sp>
      <p:sp>
        <p:nvSpPr>
          <p:cNvPr id="205" name="Text 203"/>
          <p:cNvSpPr/>
          <p:nvPr/>
        </p:nvSpPr>
        <p:spPr>
          <a:xfrm>
            <a:off x="228600" y="4480560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37474F"/>
                </a:solidFill>
              </a:rPr>
              <a:t>LINK</a:t>
            </a:r>
            <a:endParaRPr lang="en-US" sz="650" dirty="0"/>
          </a:p>
        </p:txBody>
      </p:sp>
      <p:sp>
        <p:nvSpPr>
          <p:cNvPr id="206" name="Shape 204"/>
          <p:cNvSpPr/>
          <p:nvPr/>
        </p:nvSpPr>
        <p:spPr>
          <a:xfrm>
            <a:off x="576072" y="4480560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Text 205"/>
          <p:cNvSpPr/>
          <p:nvPr/>
        </p:nvSpPr>
        <p:spPr>
          <a:xfrm>
            <a:off x="576072" y="4480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0.75</a:t>
            </a:r>
            <a:endParaRPr lang="en-US" sz="550" dirty="0"/>
          </a:p>
        </p:txBody>
      </p:sp>
      <p:sp>
        <p:nvSpPr>
          <p:cNvPr id="208" name="Shape 206"/>
          <p:cNvSpPr/>
          <p:nvPr/>
        </p:nvSpPr>
        <p:spPr>
          <a:xfrm>
            <a:off x="923544" y="4480560"/>
            <a:ext cx="329184" cy="329184"/>
          </a:xfrm>
          <a:prstGeom prst="rect">
            <a:avLst/>
          </a:prstGeom>
          <a:solidFill>
            <a:srgbClr val="5E8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9" name="Text 207"/>
          <p:cNvSpPr/>
          <p:nvPr/>
        </p:nvSpPr>
        <p:spPr>
          <a:xfrm>
            <a:off x="923544" y="4480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0.76</a:t>
            </a:r>
            <a:endParaRPr lang="en-US" sz="550" dirty="0"/>
          </a:p>
        </p:txBody>
      </p:sp>
      <p:sp>
        <p:nvSpPr>
          <p:cNvPr id="210" name="Shape 208"/>
          <p:cNvSpPr/>
          <p:nvPr/>
        </p:nvSpPr>
        <p:spPr>
          <a:xfrm>
            <a:off x="1271016" y="4480560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1" name="Text 209"/>
          <p:cNvSpPr/>
          <p:nvPr/>
        </p:nvSpPr>
        <p:spPr>
          <a:xfrm>
            <a:off x="1271016" y="4480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0.72</a:t>
            </a:r>
            <a:endParaRPr lang="en-US" sz="550" dirty="0"/>
          </a:p>
        </p:txBody>
      </p:sp>
      <p:sp>
        <p:nvSpPr>
          <p:cNvPr id="212" name="Shape 210"/>
          <p:cNvSpPr/>
          <p:nvPr/>
        </p:nvSpPr>
        <p:spPr>
          <a:xfrm>
            <a:off x="1618488" y="4480560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3" name="Text 211"/>
          <p:cNvSpPr/>
          <p:nvPr/>
        </p:nvSpPr>
        <p:spPr>
          <a:xfrm>
            <a:off x="1618488" y="4480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0.63</a:t>
            </a:r>
            <a:endParaRPr lang="en-US" sz="550" dirty="0"/>
          </a:p>
        </p:txBody>
      </p:sp>
      <p:sp>
        <p:nvSpPr>
          <p:cNvPr id="214" name="Shape 212"/>
          <p:cNvSpPr/>
          <p:nvPr/>
        </p:nvSpPr>
        <p:spPr>
          <a:xfrm>
            <a:off x="1965960" y="4480560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5" name="Text 213"/>
          <p:cNvSpPr/>
          <p:nvPr/>
        </p:nvSpPr>
        <p:spPr>
          <a:xfrm>
            <a:off x="1965960" y="4480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0.68</a:t>
            </a:r>
            <a:endParaRPr lang="en-US" sz="550" dirty="0"/>
          </a:p>
        </p:txBody>
      </p:sp>
      <p:sp>
        <p:nvSpPr>
          <p:cNvPr id="216" name="Shape 214"/>
          <p:cNvSpPr/>
          <p:nvPr/>
        </p:nvSpPr>
        <p:spPr>
          <a:xfrm>
            <a:off x="2313432" y="4480560"/>
            <a:ext cx="329184" cy="329184"/>
          </a:xfrm>
          <a:prstGeom prst="rect">
            <a:avLst/>
          </a:prstGeom>
          <a:solidFill>
            <a:srgbClr val="C5C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7" name="Text 215"/>
          <p:cNvSpPr/>
          <p:nvPr/>
        </p:nvSpPr>
        <p:spPr>
          <a:xfrm>
            <a:off x="2313432" y="4480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0.61</a:t>
            </a:r>
            <a:endParaRPr lang="en-US" sz="550" dirty="0"/>
          </a:p>
        </p:txBody>
      </p:sp>
      <p:sp>
        <p:nvSpPr>
          <p:cNvPr id="218" name="Shape 216"/>
          <p:cNvSpPr/>
          <p:nvPr/>
        </p:nvSpPr>
        <p:spPr>
          <a:xfrm>
            <a:off x="2660904" y="4480560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9" name="Text 217"/>
          <p:cNvSpPr/>
          <p:nvPr/>
        </p:nvSpPr>
        <p:spPr>
          <a:xfrm>
            <a:off x="2660904" y="4480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0.73</a:t>
            </a:r>
            <a:endParaRPr lang="en-US" sz="550" dirty="0"/>
          </a:p>
        </p:txBody>
      </p:sp>
      <p:sp>
        <p:nvSpPr>
          <p:cNvPr id="220" name="Shape 218"/>
          <p:cNvSpPr/>
          <p:nvPr/>
        </p:nvSpPr>
        <p:spPr>
          <a:xfrm>
            <a:off x="3008376" y="4480560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1" name="Text 219"/>
          <p:cNvSpPr/>
          <p:nvPr/>
        </p:nvSpPr>
        <p:spPr>
          <a:xfrm>
            <a:off x="3008376" y="4480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0.71</a:t>
            </a:r>
            <a:endParaRPr lang="en-US" sz="550" dirty="0"/>
          </a:p>
        </p:txBody>
      </p:sp>
      <p:sp>
        <p:nvSpPr>
          <p:cNvPr id="222" name="Shape 220"/>
          <p:cNvSpPr/>
          <p:nvPr/>
        </p:nvSpPr>
        <p:spPr>
          <a:xfrm>
            <a:off x="3355848" y="4480560"/>
            <a:ext cx="329184" cy="329184"/>
          </a:xfrm>
          <a:prstGeom prst="rect">
            <a:avLst/>
          </a:prstGeom>
          <a:solidFill>
            <a:srgbClr val="A5B4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3" name="Text 221"/>
          <p:cNvSpPr/>
          <p:nvPr/>
        </p:nvSpPr>
        <p:spPr>
          <a:xfrm>
            <a:off x="3355848" y="4480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D1B2A"/>
                </a:solidFill>
              </a:rPr>
              <a:t>0.73</a:t>
            </a:r>
            <a:endParaRPr lang="en-US" sz="550" dirty="0"/>
          </a:p>
        </p:txBody>
      </p:sp>
      <p:sp>
        <p:nvSpPr>
          <p:cNvPr id="224" name="Shape 222"/>
          <p:cNvSpPr/>
          <p:nvPr/>
        </p:nvSpPr>
        <p:spPr>
          <a:xfrm>
            <a:off x="3703320" y="4480560"/>
            <a:ext cx="329184" cy="329184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5" name="Text 223"/>
          <p:cNvSpPr/>
          <p:nvPr/>
        </p:nvSpPr>
        <p:spPr>
          <a:xfrm>
            <a:off x="3703320" y="4480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1.00</a:t>
            </a:r>
            <a:endParaRPr lang="en-US" sz="550" dirty="0"/>
          </a:p>
        </p:txBody>
      </p:sp>
      <p:sp>
        <p:nvSpPr>
          <p:cNvPr id="226" name="Text 224"/>
          <p:cNvSpPr/>
          <p:nvPr/>
        </p:nvSpPr>
        <p:spPr>
          <a:xfrm>
            <a:off x="5303520" y="877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</a:rPr>
              <a:t>Kết quả phân tích tương quan</a:t>
            </a:r>
            <a:endParaRPr lang="en-US" sz="1100" dirty="0"/>
          </a:p>
        </p:txBody>
      </p:sp>
      <p:sp>
        <p:nvSpPr>
          <p:cNvPr id="227" name="Shape 225"/>
          <p:cNvSpPr/>
          <p:nvPr/>
        </p:nvSpPr>
        <p:spPr>
          <a:xfrm>
            <a:off x="5212080" y="1234440"/>
            <a:ext cx="3749040" cy="658368"/>
          </a:xfrm>
          <a:prstGeom prst="rect">
            <a:avLst/>
          </a:prstGeom>
          <a:solidFill>
            <a:srgbClr val="E8EAF6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5212080" y="1234440"/>
            <a:ext cx="54864" cy="658368"/>
          </a:xfrm>
          <a:prstGeom prst="rect">
            <a:avLst/>
          </a:prstGeom>
          <a:solidFill>
            <a:srgbClr val="3F51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9" name="Text 227"/>
          <p:cNvSpPr/>
          <p:nvPr/>
        </p:nvSpPr>
        <p:spPr>
          <a:xfrm>
            <a:off x="5340096" y="13075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🔗  Altcoin phụ thuộc mạnh vào BTC</a:t>
            </a:r>
            <a:endParaRPr lang="en-US" sz="1000" dirty="0"/>
          </a:p>
        </p:txBody>
      </p:sp>
      <p:sp>
        <p:nvSpPr>
          <p:cNvPr id="230" name="Text 228"/>
          <p:cNvSpPr/>
          <p:nvPr/>
        </p:nvSpPr>
        <p:spPr>
          <a:xfrm>
            <a:off x="5340096" y="15636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Tương quan Pearson BTC vs altcoin: r = 0.6–0.89 → khi BTC giảm, altcoin cũng giảm theo</a:t>
            </a:r>
            <a:endParaRPr lang="en-US" sz="850" dirty="0"/>
          </a:p>
        </p:txBody>
      </p:sp>
      <p:sp>
        <p:nvSpPr>
          <p:cNvPr id="231" name="Shape 229"/>
          <p:cNvSpPr/>
          <p:nvPr/>
        </p:nvSpPr>
        <p:spPr>
          <a:xfrm>
            <a:off x="5212080" y="2002536"/>
            <a:ext cx="3749040" cy="658368"/>
          </a:xfrm>
          <a:prstGeom prst="rect">
            <a:avLst/>
          </a:prstGeom>
          <a:solidFill>
            <a:srgbClr val="E8EAF6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5212080" y="2002536"/>
            <a:ext cx="54864" cy="658368"/>
          </a:xfrm>
          <a:prstGeom prst="rect">
            <a:avLst/>
          </a:prstGeom>
          <a:solidFill>
            <a:srgbClr val="3F51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3" name="Text 231"/>
          <p:cNvSpPr/>
          <p:nvPr/>
        </p:nvSpPr>
        <p:spPr>
          <a:xfrm>
            <a:off x="5340096" y="20756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🔗  DOGE – tương quan thấp nhất</a:t>
            </a:r>
            <a:endParaRPr lang="en-US" sz="1000" dirty="0"/>
          </a:p>
        </p:txBody>
      </p:sp>
      <p:sp>
        <p:nvSpPr>
          <p:cNvPr id="234" name="Text 232"/>
          <p:cNvSpPr/>
          <p:nvPr/>
        </p:nvSpPr>
        <p:spPr>
          <a:xfrm>
            <a:off x="5340096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r ≈ 0.61–0.68 → biến động độc lập hơn (tâm lý meme coin)</a:t>
            </a:r>
            <a:endParaRPr lang="en-US" sz="850" dirty="0"/>
          </a:p>
        </p:txBody>
      </p:sp>
      <p:sp>
        <p:nvSpPr>
          <p:cNvPr id="235" name="Shape 233"/>
          <p:cNvSpPr/>
          <p:nvPr/>
        </p:nvSpPr>
        <p:spPr>
          <a:xfrm>
            <a:off x="5212080" y="2770632"/>
            <a:ext cx="3749040" cy="658368"/>
          </a:xfrm>
          <a:prstGeom prst="rect">
            <a:avLst/>
          </a:prstGeom>
          <a:solidFill>
            <a:srgbClr val="E8EAF6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5212080" y="2770632"/>
            <a:ext cx="54864" cy="658368"/>
          </a:xfrm>
          <a:prstGeom prst="rect">
            <a:avLst/>
          </a:prstGeom>
          <a:solidFill>
            <a:srgbClr val="3F51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7" name="Text 235"/>
          <p:cNvSpPr/>
          <p:nvPr/>
        </p:nvSpPr>
        <p:spPr>
          <a:xfrm>
            <a:off x="5340096" y="284378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🔗  Đa dạng hóa chưa hiệu quả</a:t>
            </a:r>
            <a:endParaRPr lang="en-US" sz="1000" dirty="0"/>
          </a:p>
        </p:txBody>
      </p:sp>
      <p:sp>
        <p:nvSpPr>
          <p:cNvPr id="238" name="Text 236"/>
          <p:cNvSpPr/>
          <p:nvPr/>
        </p:nvSpPr>
        <p:spPr>
          <a:xfrm>
            <a:off x="5340096" y="30998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Danh mục nhiều coin ≠ phân tán rủi ro thực sự trong crypto</a:t>
            </a:r>
            <a:endParaRPr lang="en-US" sz="850" dirty="0"/>
          </a:p>
        </p:txBody>
      </p:sp>
      <p:sp>
        <p:nvSpPr>
          <p:cNvPr id="239" name="Shape 237"/>
          <p:cNvSpPr/>
          <p:nvPr/>
        </p:nvSpPr>
        <p:spPr>
          <a:xfrm>
            <a:off x="5212080" y="3566160"/>
            <a:ext cx="3749040" cy="1389888"/>
          </a:xfrm>
          <a:prstGeom prst="rect">
            <a:avLst/>
          </a:prstGeom>
          <a:solidFill>
            <a:srgbClr val="EDE7F6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0" name="Text 238"/>
          <p:cNvSpPr/>
          <p:nvPr/>
        </p:nvSpPr>
        <p:spPr>
          <a:xfrm>
            <a:off x="5340096" y="36393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</a:rPr>
              <a:t>📦  Phân tích Volume &amp; Spearman</a:t>
            </a:r>
            <a:endParaRPr lang="en-US" sz="1100" dirty="0"/>
          </a:p>
        </p:txBody>
      </p:sp>
      <p:sp>
        <p:nvSpPr>
          <p:cNvPr id="241" name="Text 239"/>
          <p:cNvSpPr/>
          <p:nvPr/>
        </p:nvSpPr>
        <p:spPr>
          <a:xfrm>
            <a:off x="5340096" y="3931920"/>
            <a:ext cx="3474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</a:rPr>
              <a:t>Volume cao → biến động giá lớn (r Spearman ≈ 0.3–0.5).
Phân phối volume lệch phải → dùng log(Volume+1).
Ngày volume đột biến thường trùng với tin tức lớn.</a:t>
            </a:r>
            <a:endParaRPr lang="en-US" sz="900" dirty="0"/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80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48F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  |  PHÂN TÍCH OHLC &amp; ALL-TIME HIGH</a:t>
            </a:r>
            <a:endParaRPr lang="en-US" sz="1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37160" y="804672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394960" y="8229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0E4F"/>
                </a:solidFill>
              </a:rPr>
              <a:t>Phân tích OHLC chính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12080" y="1188720"/>
            <a:ext cx="3749040" cy="640080"/>
          </a:xfrm>
          <a:prstGeom prst="rect">
            <a:avLst/>
          </a:prstGeom>
          <a:solidFill>
            <a:srgbClr val="FCE4EC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212080" y="1188720"/>
            <a:ext cx="54864" cy="640080"/>
          </a:xfrm>
          <a:prstGeom prst="rect">
            <a:avLst/>
          </a:prstGeom>
          <a:solidFill>
            <a:srgbClr val="880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40096" y="125272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0E4F"/>
                </a:solidFill>
              </a:rPr>
              <a:t>🕯️  BTC Candlestick (H2/2024)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40096" y="1508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BTC tăng từ ~58,000 USD (T8/2024) lên đỉnh &gt;100,000 USD (T12/2024)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212080" y="1938528"/>
            <a:ext cx="3749040" cy="640080"/>
          </a:xfrm>
          <a:prstGeom prst="rect">
            <a:avLst/>
          </a:prstGeom>
          <a:solidFill>
            <a:srgbClr val="FFF0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212080" y="1938528"/>
            <a:ext cx="54864" cy="640080"/>
          </a:xfrm>
          <a:prstGeom prst="rect">
            <a:avLst/>
          </a:prstGeom>
          <a:solidFill>
            <a:srgbClr val="880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40096" y="20025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0E4F"/>
                </a:solidFill>
              </a:rPr>
              <a:t>📉  Biên độ dao động (High-Low Spread)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40096" y="22585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DOGE đạt biên độ &gt;30% năm 2021. BTC biên độ thấp nhất suốt giai đoạn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212080" y="2688336"/>
            <a:ext cx="3749040" cy="640080"/>
          </a:xfrm>
          <a:prstGeom prst="rect">
            <a:avLst/>
          </a:prstGeom>
          <a:solidFill>
            <a:srgbClr val="FCE4EC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212080" y="2688336"/>
            <a:ext cx="54864" cy="640080"/>
          </a:xfrm>
          <a:prstGeom prst="rect">
            <a:avLst/>
          </a:prstGeom>
          <a:solidFill>
            <a:srgbClr val="880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340096" y="27523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0E4F"/>
                </a:solidFill>
              </a:rPr>
              <a:t>🏆  BTC &amp; BNB – Phục hồi tốt nhất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340096" y="30083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Chênh lệch với ATH chỉ -11.5% và -13.6% vào cuối 2024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212080" y="3438144"/>
            <a:ext cx="3749040" cy="640080"/>
          </a:xfrm>
          <a:prstGeom prst="rect">
            <a:avLst/>
          </a:prstGeom>
          <a:solidFill>
            <a:srgbClr val="FFF0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212080" y="3438144"/>
            <a:ext cx="54864" cy="640080"/>
          </a:xfrm>
          <a:prstGeom prst="rect">
            <a:avLst/>
          </a:prstGeom>
          <a:solidFill>
            <a:srgbClr val="880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340096" y="350215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0E4F"/>
                </a:solidFill>
              </a:rPr>
              <a:t>⚠️  DOT, AVAX, ADA – Xa ATH nhất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0096" y="37581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Trên 70% dưới ATH → dòng tiền chưa quay lại altcoin thế hệ mới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212080" y="4187952"/>
            <a:ext cx="3749040" cy="640080"/>
          </a:xfrm>
          <a:prstGeom prst="rect">
            <a:avLst/>
          </a:prstGeom>
          <a:solidFill>
            <a:srgbClr val="FCE4EC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212080" y="4187952"/>
            <a:ext cx="54864" cy="640080"/>
          </a:xfrm>
          <a:prstGeom prst="rect">
            <a:avLst/>
          </a:prstGeom>
          <a:solidFill>
            <a:srgbClr val="880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340096" y="425196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0E4F"/>
                </a:solidFill>
              </a:rPr>
              <a:t>💡  Layer-1 mới vs BTC/BNB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40096" y="4507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</a:rPr>
              <a:t>BTC/BNB phục hồi nhanh hơn nhờ thanh khoản cao và tâm lý thị trường ưu tiên</a:t>
            </a:r>
            <a:endParaRPr lang="en-US" sz="850" dirty="0"/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657600"/>
            <a:ext cx="2011680" cy="2011680"/>
          </a:xfrm>
          <a:prstGeom prst="ellipse">
            <a:avLst/>
          </a:prstGeom>
          <a:solidFill>
            <a:srgbClr val="00BCD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82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</a:rPr>
              <a:t>07  |  KẾT LUẬN &amp; HƯỚNG PHÁT TRIỂN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685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Kết quả đạt được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024128"/>
            <a:ext cx="164592" cy="164592"/>
          </a:xfrm>
          <a:prstGeom prst="ellipse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987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Thu thập &amp; làm sạch dữ liệu OHLCV 10 coin từ Binance API (2020-2024)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517904"/>
            <a:ext cx="164592" cy="164592"/>
          </a:xfrm>
          <a:prstGeom prst="ellipse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481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Trực quan hóa 18+ biểu đồ: line, bar, histogram, heatmap, scatter, candlestick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011680"/>
            <a:ext cx="164592" cy="164592"/>
          </a:xfrm>
          <a:prstGeom prst="ellipse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19751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DOGE &amp; SOL tăng trưởng mạnh nhất; DOT &amp; AVAX xa ATH nhất (-87.9%, -75.7%)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505456"/>
            <a:ext cx="164592" cy="164592"/>
          </a:xfrm>
          <a:prstGeom prst="ellipse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DOGE &amp; AVAX biến động cao nhất (std &gt;6%); BTC &amp; BNB ổn định nhất (&lt;4%)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999232"/>
            <a:ext cx="164592" cy="164592"/>
          </a:xfrm>
          <a:prstGeom prst="ellipse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29626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Tương quan BTC-altcoin r=0.6–0.89; volume cao → biến động lớn (Spearman ≈0.3-0.5)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493008"/>
            <a:ext cx="164592" cy="164592"/>
          </a:xfrm>
          <a:prstGeom prst="ellipse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456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</a:rPr>
              <a:t>BTC đạt &gt;100,000 USD T12/2024; thị trường phục hồi mạnh 2023–2024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685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Hướng phát triển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042416"/>
            <a:ext cx="4160520" cy="78638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1133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🔬  Intraday (1h, 15m)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1426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Phân tích hành vi giá ngắn hạn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993392"/>
            <a:ext cx="4160520" cy="78638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2084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⛓️  Dữ liệu On-chain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Ví hoạt động, dòng coin vào/ra sàn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44368"/>
            <a:ext cx="4160520" cy="78638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3035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🤖  Mô hình LSTM / Prophet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3328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Dự báo giá dựa trên dữ liệu đã phân tích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895344"/>
            <a:ext cx="4160520" cy="78638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19472" y="39867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📱  Sentiment Social Media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4279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Twitter/X, Reddit → ảnh hưởng đến giá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498848"/>
            <a:ext cx="9144000" cy="64922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2880" y="4617720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</a:rPr>
              <a:t>✅  Đề tài hoàn thành đầy đủ 5 chương  •  Python: Pandas · NumPy · Matplotlib · Seaborn · Plotly  •  D23CNTT02 – Tháng 5/2026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914400"/>
            <a:ext cx="3291840" cy="3291840"/>
          </a:xfrm>
          <a:prstGeom prst="ellipse">
            <a:avLst/>
          </a:prstGeom>
          <a:solidFill>
            <a:srgbClr val="00BCD4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1371600"/>
            <a:ext cx="1828800" cy="1828800"/>
          </a:xfrm>
          <a:prstGeom prst="ellipse">
            <a:avLst/>
          </a:prstGeom>
          <a:solidFill>
            <a:srgbClr val="F9A82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FFFFF"/>
                </a:solidFill>
              </a:rPr>
              <a:t>XIN CẢM ƠN!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CD4"/>
                </a:solidFill>
              </a:rPr>
              <a:t>Phân tích xu hướng và biến động giá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BCD4"/>
                </a:solidFill>
              </a:rPr>
              <a:t>Top 10 Đồng Tiền Điện Tử  |  Binance 2020–2024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2907792"/>
            <a:ext cx="3291840" cy="36576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0" y="310896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A825"/>
                </a:solidFill>
              </a:rPr>
              <a:t>❓  Câu hỏi &amp; Thảo luận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6484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BEC5"/>
                </a:solidFill>
              </a:rPr>
              <a:t>Nguyễn Duy Khánh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0" y="36484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BEC5"/>
                </a:solidFill>
              </a:rPr>
              <a:t>Ôn Hoàng Khải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0" y="3649159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BEC5"/>
                </a:solidFill>
              </a:rPr>
              <a:t>Nguyễn Quốc Chuyên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GVHD: ThS. Nguyễn Cao Hoài Phương  •  Lớp D23CNTT02  •  Viện Công Nghệ Số – ĐH Thủ Dầu Một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1665</Words>
  <Application>Microsoft Office PowerPoint</Application>
  <PresentationFormat>On-screen Show (16:9)</PresentationFormat>
  <Paragraphs>385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Top 10 Đồng Tiền Điện Tử 2020–2024</dc:title>
  <dc:subject>PptxGenJS Presentation</dc:subject>
  <dc:creator>Nhóm D23CNTT02</dc:creator>
  <cp:lastModifiedBy>Nguyễn Quốc Chuyên</cp:lastModifiedBy>
  <cp:revision>6</cp:revision>
  <dcterms:created xsi:type="dcterms:W3CDTF">2026-05-17T10:37:22Z</dcterms:created>
  <dcterms:modified xsi:type="dcterms:W3CDTF">2026-05-18T08:49:40Z</dcterms:modified>
</cp:coreProperties>
</file>